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Illustrative view</c:v>
          </c:tx>
          <c:spPr>
            <a:solidFill>
              <a:srgbClr val="008C4A"/>
            </a:solidFill>
          </c:spPr>
          <c:invertIfNegative val="1"/>
          <c:cat>
            <c:strLit>
              <c:ptCount val="3"/>
              <c:pt idx="0">
                <c:v>Revenue</c:v>
              </c:pt>
              <c:pt idx="1">
                <c:v>Expense</c:v>
              </c:pt>
              <c:pt idx="2">
                <c:v>Net</c:v>
              </c:pt>
            </c:strLit>
          </c:cat>
          <c:val>
            <c:numLit>
              <c:formatCode>General</c:formatCode>
              <c:ptCount val="3"/>
              <c:pt idx="0">
                <c:v>80</c:v>
              </c:pt>
              <c:pt idx="1">
                <c:v>42</c:v>
              </c:pt>
              <c:pt idx="2">
                <c:v>38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3BF-4147-8380-A6CD521A1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Sales trend</c:v>
          </c:tx>
          <c:marker>
            <c:symbol val="none"/>
          </c:marker>
          <c:cat>
            <c:strLit>
              <c:ptCount val="5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  <c:pt idx="4">
                <c:v>W5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32</c:v>
              </c:pt>
              <c:pt idx="2">
                <c:v>26</c:v>
              </c:pt>
              <c:pt idx="3">
                <c:v>44</c:v>
              </c:pt>
              <c:pt idx="4">
                <c:v>58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D52-4986-B6C9-45A053982602}"/>
            </c:ext>
          </c:extLst>
        </c:ser>
        <c:ser>
          <c:idx val="1"/>
          <c:order val="1"/>
          <c:tx>
            <c:v>Product movement</c:v>
          </c:tx>
          <c:marker>
            <c:symbol val="none"/>
          </c:marker>
          <c:cat>
            <c:strLit>
              <c:ptCount val="5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  <c:pt idx="4">
                <c:v>W5</c:v>
              </c:pt>
            </c:strLit>
          </c:cat>
          <c:val>
            <c:numLit>
              <c:formatCode>General</c:formatCode>
              <c:ptCount val="5"/>
              <c:pt idx="0">
                <c:v>14</c:v>
              </c:pt>
              <c:pt idx="1">
                <c:v>18</c:v>
              </c:pt>
              <c:pt idx="2">
                <c:v>25</c:v>
              </c:pt>
              <c:pt idx="3">
                <c:v>31</c:v>
              </c:pt>
              <c:pt idx="4">
                <c:v>42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D52-4986-B6C9-45A0539826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CE9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positioning BizTrack as a complete operating system for business owners rather than a single sales or inventory tool.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explicitly states the operational problems BizTrack is built to solve.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gives the audience a direct before/after logic: scattered action becomes connected records.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four benefits as management outcomes, not just software features.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frame the pain before introducing modules.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 the workflow logic: this is not a collection of separate pages.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that business owners can define employee roles dynamically while platform roles remain protected.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the modern onboarding decision: identity and payment/trial drive access.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communicates the navigation philosophy and shows why modules are grouped.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product creation is kept clean while inventory carries pricing and batch data.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explain the recent split payment enhancement and why it matters.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core customer design: credit is not typed casually during creation; it grows from activity and owner decisions.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chart is an illustrative visual treatment showing revenue, expense, and net logic rather than audited business data.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reports as decision support. Trend values are illustrative visual examples.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the platform governance boundary.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that service fee was decommissioned and subscriptions are the main revenue mechanism.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gateway choice is represented structurally even before production API credentials are connected.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 database summary slide rather than listing every table one by one.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security as a cross-cutting design, not only a login page.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multi-tenant theming is about emotional ownership as well as brand consistency.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executive value slide. Keep it practical and owner-centered.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giving a concrete forward path.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t="34180" b="341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AE90D6-C34F-4366-B457-7900BF8A5A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FFB">
              <a:alpha val="80000"/>
            </a:srgbClr>
          </a:solidFill>
          <a:ln w="0">
            <a:noFill/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5613" y="514350"/>
            <a:ext cx="1086274" cy="723900"/>
          </a:xfrm>
          <a:prstGeom prst="roundRect">
            <a:avLst>
              <a:gd name="adj" fmla="val 10526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E494AF-BD4C-42C8-92EF-BC2E9AD1CB0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008C4A">
              <a:alpha val="9412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EA945E-FBE6-44B4-8834-55C066A601C0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SYSTEM DOCUMENT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895B4-11A1-4526-8F52-CF0BEB5E7976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092033"/>
                </a:solidFill>
              </a:defRPr>
            </a:pPr>
            <a:r>
              <a:rPr sz="4650" b="1">
                <a:solidFill>
                  <a:srgbClr val="092033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5E42AA-AF6C-44D3-A6C0-162FD5EABE7F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A Complete Internal Operations Management System for Businesses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578BA-29A5-45F6-BC64-20BA493C2819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685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3657A"/>
                </a:solidFill>
              </a:defRPr>
            </a:pPr>
            <a:r>
              <a:rPr sz="1575" b="0">
                <a:solidFill>
                  <a:srgbClr val="53657A"/>
                </a:solidFill>
              </a:rPr>
              <a:t>Designed to manage sales, inventory, payments, employees, customers, subscriptions, reporting, and business performance from one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582648-780E-4EF5-99C0-74059440194E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4F5DB6-293E-41CF-B5D7-4AB7E4367EC4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18+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3D0B5-0BFC-4A86-B4A2-6B95DB11B5D0}"/>
              </a:ext>
            </a:extLst>
          </p:cNvPr>
          <p:cNvSpPr>
            <a:spLocks noGrp="1"/>
          </p:cNvSpPr>
          <p:nvPr/>
        </p:nvSpPr>
        <p:spPr>
          <a:xfrm>
            <a:off x="8115300" y="27336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Integrated operating modules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0A6E45-3269-48E8-B5B7-85F163CC5647}"/>
              </a:ext>
            </a:extLst>
          </p:cNvPr>
          <p:cNvSpPr>
            <a:spLocks noGrp="1"/>
          </p:cNvSpPr>
          <p:nvPr/>
        </p:nvSpPr>
        <p:spPr>
          <a:xfrm>
            <a:off x="7905750" y="33909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E3BAD3-08A2-4C75-9E4C-F89D9DA3CAD9}"/>
              </a:ext>
            </a:extLst>
          </p:cNvPr>
          <p:cNvSpPr>
            <a:spLocks noGrp="1"/>
          </p:cNvSpPr>
          <p:nvPr/>
        </p:nvSpPr>
        <p:spPr>
          <a:xfrm>
            <a:off x="8115300" y="36195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E9FB15-B851-4ABF-9805-B1F3AE5D5C36}"/>
              </a:ext>
            </a:extLst>
          </p:cNvPr>
          <p:cNvSpPr>
            <a:spLocks noGrp="1"/>
          </p:cNvSpPr>
          <p:nvPr/>
        </p:nvSpPr>
        <p:spPr>
          <a:xfrm>
            <a:off x="8115300" y="40290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Domain database tables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C86ECB-FBD7-406F-8986-25CB5602F575}"/>
              </a:ext>
            </a:extLst>
          </p:cNvPr>
          <p:cNvSpPr>
            <a:spLocks noGrp="1"/>
          </p:cNvSpPr>
          <p:nvPr/>
        </p:nvSpPr>
        <p:spPr>
          <a:xfrm>
            <a:off x="7905750" y="46863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E6D4C6-DA18-4AA0-BBFF-1FE34793BD90}"/>
              </a:ext>
            </a:extLst>
          </p:cNvPr>
          <p:cNvSpPr>
            <a:spLocks noGrp="1"/>
          </p:cNvSpPr>
          <p:nvPr/>
        </p:nvSpPr>
        <p:spPr>
          <a:xfrm>
            <a:off x="8115300" y="49149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3+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6FFC8A-3BF4-4A6F-97C4-DD8FB6A910CB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Built-in platform roles</a:t>
            </a:r>
          </a:p>
        </p:txBody>
      </p:sp>
    </p:spTree>
    <p:extLst>
      <p:ext uri="{BB962C8B-B14F-4D97-AF65-F5344CB8AC3E}">
        <p14:creationId xmlns:p14="http://schemas.microsoft.com/office/powerpoint/2010/main" val="181955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D62B796-5E9A-43DB-B2C6-C33C7FC5940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Many businesses lose control because daily work is scattered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1D580-27FE-4E3A-BFF3-210E399B38C7}"/>
              </a:ext>
            </a:extLst>
          </p:cNvPr>
          <p:cNvSpPr>
            <a:spLocks noGrp="1"/>
          </p:cNvSpPr>
          <p:nvPr/>
        </p:nvSpPr>
        <p:spPr>
          <a:xfrm>
            <a:off x="698091" y="1433359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Owners usually do not lack effort; they lack one connected place where sales, stock, money, people, and decisions meet.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4C4262-E9EE-4B46-8194-31A553CD1A41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B4235A">
              <a:alpha val="7059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B67A9-6B94-40B4-9EE1-9403B9415DB4}"/>
              </a:ext>
            </a:extLst>
          </p:cNvPr>
          <p:cNvSpPr>
            <a:spLocks noGrp="1"/>
          </p:cNvSpPr>
          <p:nvPr/>
        </p:nvSpPr>
        <p:spPr>
          <a:xfrm>
            <a:off x="8191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4235A"/>
                </a:solidFill>
              </a:defRPr>
            </a:pPr>
            <a:r>
              <a:rPr sz="1575" b="1">
                <a:solidFill>
                  <a:srgbClr val="B4235A"/>
                </a:solidFill>
              </a:rPr>
              <a:t>Sales and stock are disconnected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47A8A4-E153-4C21-91A1-EC8309CD2362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A product can be sold without the owner seeing the stock impact immediately.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821566-2486-45C5-8151-E38BB1398704}"/>
              </a:ext>
            </a:extLst>
          </p:cNvPr>
          <p:cNvSpPr>
            <a:spLocks noGrp="1"/>
          </p:cNvSpPr>
          <p:nvPr/>
        </p:nvSpPr>
        <p:spPr>
          <a:xfrm>
            <a:off x="42291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F5B942">
              <a:alpha val="7059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61CD8F-5A9D-4275-848B-44FA0A765648}"/>
              </a:ext>
            </a:extLst>
          </p:cNvPr>
          <p:cNvSpPr>
            <a:spLocks noGrp="1"/>
          </p:cNvSpPr>
          <p:nvPr/>
        </p:nvSpPr>
        <p:spPr>
          <a:xfrm>
            <a:off x="44386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5B942"/>
                </a:solidFill>
              </a:defRPr>
            </a:pPr>
            <a:r>
              <a:rPr sz="1575" b="1">
                <a:solidFill>
                  <a:srgbClr val="F5B942"/>
                </a:solidFill>
              </a:rPr>
              <a:t>Customer credit becomes risky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FA8A43-920F-44CF-ADB5-BD149C1D57EA}"/>
              </a:ext>
            </a:extLst>
          </p:cNvPr>
          <p:cNvSpPr>
            <a:spLocks noGrp="1"/>
          </p:cNvSpPr>
          <p:nvPr/>
        </p:nvSpPr>
        <p:spPr>
          <a:xfrm>
            <a:off x="4448175" y="2481109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Manual credit records make it hard to know who owes money and how much is still safe to allow.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A89BEC-6BC5-40FD-A393-4051868D91DD}"/>
              </a:ext>
            </a:extLst>
          </p:cNvPr>
          <p:cNvSpPr>
            <a:spLocks noGrp="1"/>
          </p:cNvSpPr>
          <p:nvPr/>
        </p:nvSpPr>
        <p:spPr>
          <a:xfrm>
            <a:off x="78486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75985">
              <a:alpha val="7059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282AA-77D1-4347-9290-6AE8B8A6ABFA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75985"/>
                </a:solidFill>
              </a:defRPr>
            </a:pPr>
            <a:r>
              <a:rPr sz="1575" b="1">
                <a:solidFill>
                  <a:srgbClr val="075985"/>
                </a:solidFill>
              </a:rPr>
              <a:t>Employee access is unclear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31890A-7DFC-4795-B793-1D6CB454FDBE}"/>
              </a:ext>
            </a:extLst>
          </p:cNvPr>
          <p:cNvSpPr>
            <a:spLocks noGrp="1"/>
          </p:cNvSpPr>
          <p:nvPr/>
        </p:nvSpPr>
        <p:spPr>
          <a:xfrm>
            <a:off x="8058150" y="24003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Cashiers, managers, and staff may receive too much access or the wrong access.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E382AC-6FAA-429B-A6EF-6968CD3C2B4A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08C4A">
              <a:alpha val="7059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68B07-5953-46F7-B0B7-574B95EF4220}"/>
              </a:ext>
            </a:extLst>
          </p:cNvPr>
          <p:cNvSpPr>
            <a:spLocks noGrp="1"/>
          </p:cNvSpPr>
          <p:nvPr/>
        </p:nvSpPr>
        <p:spPr>
          <a:xfrm>
            <a:off x="2590800" y="4229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8C4A"/>
                </a:solidFill>
              </a:defRPr>
            </a:pPr>
            <a:r>
              <a:rPr sz="1575" b="1">
                <a:solidFill>
                  <a:srgbClr val="008C4A"/>
                </a:solidFill>
              </a:rPr>
              <a:t>Payments and receipts lack traceability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BE082F-3CBC-4873-81DC-9C0561C7A0B7}"/>
              </a:ext>
            </a:extLst>
          </p:cNvPr>
          <p:cNvSpPr>
            <a:spLocks noGrp="1"/>
          </p:cNvSpPr>
          <p:nvPr/>
        </p:nvSpPr>
        <p:spPr>
          <a:xfrm>
            <a:off x="2590800" y="4700741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Cash, mobile money, and credit payments are difficult to audit when records are separated.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2FFC31C-CDB5-44D2-839B-53BA7892BD9A}"/>
              </a:ext>
            </a:extLst>
          </p:cNvPr>
          <p:cNvSpPr>
            <a:spLocks noGrp="1"/>
          </p:cNvSpPr>
          <p:nvPr/>
        </p:nvSpPr>
        <p:spPr>
          <a:xfrm>
            <a:off x="6096000" y="40005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F766E">
              <a:alpha val="7059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78E14C-C0C9-4D02-8DF1-149E2FD3818B}"/>
              </a:ext>
            </a:extLst>
          </p:cNvPr>
          <p:cNvSpPr>
            <a:spLocks noGrp="1"/>
          </p:cNvSpPr>
          <p:nvPr/>
        </p:nvSpPr>
        <p:spPr>
          <a:xfrm>
            <a:off x="6305550" y="4229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Reports arrive too 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7C91A9-9834-4EB3-B5F7-94F610295ECE}"/>
              </a:ext>
            </a:extLst>
          </p:cNvPr>
          <p:cNvSpPr>
            <a:spLocks noGrp="1"/>
          </p:cNvSpPr>
          <p:nvPr/>
        </p:nvSpPr>
        <p:spPr>
          <a:xfrm>
            <a:off x="6305550" y="46101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>
                <a:solidFill>
                  <a:srgbClr val="092033"/>
                </a:solidFill>
              </a:rPr>
              <a:t>Owners make decisions after the problem has already affected cash flow or stock.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D0EA13-ECDC-4F3B-9E59-BB21762C875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B3B5DE-DD35-458F-9F3D-AEC9B970D4D5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548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115D0FB-D121-4176-8534-E68A295CAC8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fixes the problem by connecting every daily action to the next record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B5AE05-34BA-4745-9EB3-C6D5C86E7ACC}"/>
              </a:ext>
            </a:extLst>
          </p:cNvPr>
          <p:cNvSpPr>
            <a:spLocks noGrp="1"/>
          </p:cNvSpPr>
          <p:nvPr/>
        </p:nvSpPr>
        <p:spPr>
          <a:xfrm>
            <a:off x="762000" y="1558413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Instead of forcing owners to check many places, the system turns daily work into one controlled operating flow.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E4AD0C-6DC2-46A4-883E-D1AA2174A42A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75985">
              <a:alpha val="7843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57BDB-A1AC-4C38-BD75-CA98D449AD4A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C9D03-856F-4D25-8C55-7E9308209C24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Sell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319B7-D041-41E8-B95E-1049A47CD840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POS sale is created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29ACA2-74C7-4914-8173-F611F75A415A}"/>
              </a:ext>
            </a:extLst>
          </p:cNvPr>
          <p:cNvSpPr>
            <a:spLocks noGrp="1"/>
          </p:cNvSpPr>
          <p:nvPr/>
        </p:nvSpPr>
        <p:spPr>
          <a:xfrm>
            <a:off x="25812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AEF25F-215A-4772-938F-CAE3639B9F42}"/>
              </a:ext>
            </a:extLst>
          </p:cNvPr>
          <p:cNvSpPr>
            <a:spLocks noGrp="1"/>
          </p:cNvSpPr>
          <p:nvPr/>
        </p:nvSpPr>
        <p:spPr>
          <a:xfrm>
            <a:off x="29527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08C4A">
              <a:alpha val="7843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5290F-5B9C-47D5-9E36-B09F6FA2B5B9}"/>
              </a:ext>
            </a:extLst>
          </p:cNvPr>
          <p:cNvSpPr>
            <a:spLocks noGrp="1"/>
          </p:cNvSpPr>
          <p:nvPr/>
        </p:nvSpPr>
        <p:spPr>
          <a:xfrm>
            <a:off x="31432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1E1F0-6ED8-42BB-B66A-B42081330FEF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Update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78EAE-2534-4C1F-9451-364968BAD474}"/>
              </a:ext>
            </a:extLst>
          </p:cNvPr>
          <p:cNvSpPr>
            <a:spLocks noGrp="1"/>
          </p:cNvSpPr>
          <p:nvPr/>
        </p:nvSpPr>
        <p:spPr>
          <a:xfrm>
            <a:off x="31432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Stock is reduced FIFO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EA0FF-CAF4-4838-858C-8C164C540BF5}"/>
              </a:ext>
            </a:extLst>
          </p:cNvPr>
          <p:cNvSpPr>
            <a:spLocks noGrp="1"/>
          </p:cNvSpPr>
          <p:nvPr/>
        </p:nvSpPr>
        <p:spPr>
          <a:xfrm>
            <a:off x="46767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1A805F-5D99-4741-8083-EC7A096A8CD4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B4235A">
              <a:alpha val="7843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9DE7B9-EDA3-4179-996A-EFF477053172}"/>
              </a:ext>
            </a:extLst>
          </p:cNvPr>
          <p:cNvSpPr>
            <a:spLocks noGrp="1"/>
          </p:cNvSpPr>
          <p:nvPr/>
        </p:nvSpPr>
        <p:spPr>
          <a:xfrm>
            <a:off x="5238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4235A"/>
                </a:solidFill>
              </a:defRPr>
            </a:pPr>
            <a:r>
              <a:rPr sz="1950" b="1">
                <a:solidFill>
                  <a:srgbClr val="B4235A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04C8EE-8E79-4305-98AC-F1F506D92A7B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Collect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5304A9-B3A3-45C4-8ECE-04A6B4E22656}"/>
              </a:ext>
            </a:extLst>
          </p:cNvPr>
          <p:cNvSpPr>
            <a:spLocks noGrp="1"/>
          </p:cNvSpPr>
          <p:nvPr/>
        </p:nvSpPr>
        <p:spPr>
          <a:xfrm>
            <a:off x="5238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Cash, wallet, account, or credit is recorded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F9F889-E070-4DA8-BCC1-9605D681D6EF}"/>
              </a:ext>
            </a:extLst>
          </p:cNvPr>
          <p:cNvSpPr>
            <a:spLocks noGrp="1"/>
          </p:cNvSpPr>
          <p:nvPr/>
        </p:nvSpPr>
        <p:spPr>
          <a:xfrm>
            <a:off x="67722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342BED-D2AD-43CA-8CBE-C6BBD075B515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F766E">
              <a:alpha val="7843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76AD1D-2937-48B5-8980-6354FE76F096}"/>
              </a:ext>
            </a:extLst>
          </p:cNvPr>
          <p:cNvSpPr>
            <a:spLocks noGrp="1"/>
          </p:cNvSpPr>
          <p:nvPr/>
        </p:nvSpPr>
        <p:spPr>
          <a:xfrm>
            <a:off x="73342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D9DA1C-FAF4-4397-8E39-D14CF4F9A9AD}"/>
              </a:ext>
            </a:extLst>
          </p:cNvPr>
          <p:cNvSpPr>
            <a:spLocks noGrp="1"/>
          </p:cNvSpPr>
          <p:nvPr/>
        </p:nvSpPr>
        <p:spPr>
          <a:xfrm>
            <a:off x="73342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Trace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8D0C07-3922-4248-BF55-823646AC3B8A}"/>
              </a:ext>
            </a:extLst>
          </p:cNvPr>
          <p:cNvSpPr>
            <a:spLocks noGrp="1"/>
          </p:cNvSpPr>
          <p:nvPr/>
        </p:nvSpPr>
        <p:spPr>
          <a:xfrm>
            <a:off x="73342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Receipt, QR, audit log, and customer credit update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B53F11-86C8-4F6B-A3BD-CABDCCFCB4F2}"/>
              </a:ext>
            </a:extLst>
          </p:cNvPr>
          <p:cNvSpPr>
            <a:spLocks noGrp="1"/>
          </p:cNvSpPr>
          <p:nvPr/>
        </p:nvSpPr>
        <p:spPr>
          <a:xfrm>
            <a:off x="88677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19B4F2-9711-42A5-BD7D-7D3252F4BC22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F5B942">
              <a:alpha val="7843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0D8C4B-EA68-4692-B8F2-226D11BD3610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5B942"/>
                </a:solidFill>
              </a:defRPr>
            </a:pPr>
            <a:r>
              <a:rPr sz="1950" b="1">
                <a:solidFill>
                  <a:srgbClr val="F5B942"/>
                </a:solidFill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F6ACAD-6199-43AE-8851-46706746BDE3}"/>
              </a:ext>
            </a:extLst>
          </p:cNvPr>
          <p:cNvSpPr>
            <a:spLocks noGrp="1"/>
          </p:cNvSpPr>
          <p:nvPr/>
        </p:nvSpPr>
        <p:spPr>
          <a:xfrm>
            <a:off x="9429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Decide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33A7A3-BEBF-4EA3-8C97-FCAEAFF65076}"/>
              </a:ext>
            </a:extLst>
          </p:cNvPr>
          <p:cNvSpPr>
            <a:spLocks noGrp="1"/>
          </p:cNvSpPr>
          <p:nvPr/>
        </p:nvSpPr>
        <p:spPr>
          <a:xfrm>
            <a:off x="9429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Dashboard and reports show what changed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95CB85-01A9-4BD4-9E78-FCD44E021F62}"/>
              </a:ext>
            </a:extLst>
          </p:cNvPr>
          <p:cNvSpPr>
            <a:spLocks noGrp="1"/>
          </p:cNvSpPr>
          <p:nvPr/>
        </p:nvSpPr>
        <p:spPr>
          <a:xfrm>
            <a:off x="1619250" y="4572000"/>
            <a:ext cx="8953500" cy="7048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9525">
            <a:solidFill>
              <a:srgbClr val="B7DC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942909-FF0B-4E7C-9828-DB7F99A1E0F1}"/>
              </a:ext>
            </a:extLst>
          </p:cNvPr>
          <p:cNvSpPr>
            <a:spLocks noGrp="1"/>
          </p:cNvSpPr>
          <p:nvPr/>
        </p:nvSpPr>
        <p:spPr>
          <a:xfrm>
            <a:off x="2000250" y="46863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8C4A"/>
                </a:solidFill>
              </a:defRPr>
            </a:pPr>
            <a:r>
              <a:rPr sz="1575" b="1" dirty="0">
                <a:solidFill>
                  <a:srgbClr val="008C4A"/>
                </a:solidFill>
              </a:rPr>
              <a:t>The result is simple: every sale, restock, payment, employee action, and customer credit decision becomes visible, reportable, and auditable.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F8E7DA-07F1-4744-9773-9471CAF878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C63A86-4A0D-423F-AFEC-F688149B12F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039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20E2A32-A6CC-4845-B117-78CC6D9EFAA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turns daily business activity into one controlled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FF3B60-9966-4FA9-B0E1-1C8F822BF58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The system reduces scattered tools by connecting core operations, money movement, employees, and reporting.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E56740-888C-4DC8-90B5-39DCD627C1C4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EAF8EF"/>
          </a:solidFill>
          <a:ln w="9525">
            <a:solidFill>
              <a:srgbClr val="99D9B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B8F7F-FE79-4260-AACC-309D339ABDB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422FD9-DD4C-48C9-B21D-7B90AE8EC33F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Owners see activity, access, stock, credit, and cash movement clearly.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BA35F7-91BA-4E35-BFE0-4FE82D20B46F}"/>
              </a:ext>
            </a:extLst>
          </p:cNvPr>
          <p:cNvSpPr>
            <a:spLocks noGrp="1"/>
          </p:cNvSpPr>
          <p:nvPr/>
        </p:nvSpPr>
        <p:spPr>
          <a:xfrm>
            <a:off x="337185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9525">
            <a:solidFill>
              <a:srgbClr val="A9D7F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09CEE5-29DB-4845-90DC-8D7C82B6E49A}"/>
              </a:ext>
            </a:extLst>
          </p:cNvPr>
          <p:cNvSpPr>
            <a:spLocks noGrp="1"/>
          </p:cNvSpPr>
          <p:nvPr/>
        </p:nvSpPr>
        <p:spPr>
          <a:xfrm>
            <a:off x="360045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Speed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990DF-315E-4CD6-B6A4-9D6C060A4772}"/>
              </a:ext>
            </a:extLst>
          </p:cNvPr>
          <p:cNvSpPr>
            <a:spLocks noGrp="1"/>
          </p:cNvSpPr>
          <p:nvPr/>
        </p:nvSpPr>
        <p:spPr>
          <a:xfrm>
            <a:off x="360045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Cashiers and employees perform daily work through focused, role-aware screens.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8A53EA-EBC3-4865-8877-46EF07D568A3}"/>
              </a:ext>
            </a:extLst>
          </p:cNvPr>
          <p:cNvSpPr>
            <a:spLocks noGrp="1"/>
          </p:cNvSpPr>
          <p:nvPr/>
        </p:nvSpPr>
        <p:spPr>
          <a:xfrm>
            <a:off x="613410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FFF7E2"/>
          </a:solidFill>
          <a:ln w="9525">
            <a:solidFill>
              <a:srgbClr val="F3D27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BEB0E7-5569-48A1-AEDA-9B457012001B}"/>
              </a:ext>
            </a:extLst>
          </p:cNvPr>
          <p:cNvSpPr>
            <a:spLocks noGrp="1"/>
          </p:cNvSpPr>
          <p:nvPr/>
        </p:nvSpPr>
        <p:spPr>
          <a:xfrm>
            <a:off x="636270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A16207"/>
                </a:solidFill>
              </a:defRPr>
            </a:pPr>
            <a:r>
              <a:rPr sz="1950" b="1">
                <a:solidFill>
                  <a:srgbClr val="A16207"/>
                </a:solidFill>
              </a:rPr>
              <a:t>Trust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3FACE8-F579-478E-BCDC-1CBEBABA7FC9}"/>
              </a:ext>
            </a:extLst>
          </p:cNvPr>
          <p:cNvSpPr>
            <a:spLocks noGrp="1"/>
          </p:cNvSpPr>
          <p:nvPr/>
        </p:nvSpPr>
        <p:spPr>
          <a:xfrm>
            <a:off x="636270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Audit logs, receipts, payments, and permissions make actions traceable.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CF44D5-E89D-452F-B86E-7D8E96FA72CF}"/>
              </a:ext>
            </a:extLst>
          </p:cNvPr>
          <p:cNvSpPr>
            <a:spLocks noGrp="1"/>
          </p:cNvSpPr>
          <p:nvPr/>
        </p:nvSpPr>
        <p:spPr>
          <a:xfrm>
            <a:off x="889635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FDECF4"/>
          </a:solidFill>
          <a:ln w="9525">
            <a:solidFill>
              <a:srgbClr val="EE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36DF27-D1F3-4756-988A-8E588887BBB9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4235A"/>
                </a:solidFill>
              </a:defRPr>
            </a:pPr>
            <a:r>
              <a:rPr sz="1950" b="1">
                <a:solidFill>
                  <a:srgbClr val="B4235A"/>
                </a:solidFill>
              </a:rPr>
              <a:t>Growth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D006C9-05DC-4284-9F12-3D3139DB6881}"/>
              </a:ext>
            </a:extLst>
          </p:cNvPr>
          <p:cNvSpPr>
            <a:spLocks noGrp="1"/>
          </p:cNvSpPr>
          <p:nvPr/>
        </p:nvSpPr>
        <p:spPr>
          <a:xfrm>
            <a:off x="912495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Subscriptions, analytics, and notifications support recurring platform revenue.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E79EDE-6A2C-4D69-880E-1E182D85A4A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7B33B5-5593-497C-9D8A-30907A0DBB2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837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4A4EA4-52FC-4C47-8B2F-7583B96412F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target business problem is operational fragmentation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6D6AE1-025A-48D4-9272-3DD298B05CA5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Small and growing businesses often manage stock, sales, credit, payments, and staff in disconnected places.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5682" b="5682"/>
          <a:stretch>
            <a:fillRect/>
          </a:stretch>
        </p:blipFill>
        <p:spPr>
          <a:xfrm>
            <a:off x="6934200" y="1600200"/>
            <a:ext cx="4191000" cy="3714750"/>
          </a:xfrm>
          <a:prstGeom prst="roundRect">
            <a:avLst>
              <a:gd name="adj" fmla="val 410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8A3F17-9B31-4D2D-B4F2-4D9C032F248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524500" cy="3714750"/>
          </a:xfrm>
          <a:prstGeom prst="roundRect">
            <a:avLst>
              <a:gd name="adj" fmla="val 4103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82F729-518D-44C7-873B-F08F85F2C042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953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Sales records do not automatically update inventory.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Customer credit is tracked manually and becomes risky.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Employees often have too much or too little access.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Reports are delayed because data is spread across modules.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Payments, receipts, and audit history are difficult to verify.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2CB58-E0EA-46E3-BC88-ADD4229E306A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C4A"/>
                </a:solidFill>
              </a:defRPr>
            </a:pPr>
            <a:r>
              <a:rPr sz="1500" b="1">
                <a:solidFill>
                  <a:srgbClr val="008C4A"/>
                </a:solidFill>
              </a:rPr>
              <a:t>BizTrack’s purpose is to make the business easier to control every day.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E8762B-4C2D-466E-9906-B9A603A2C2C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FAC3F4-D713-40FB-9E5C-447F9C4C7048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2986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849B788-891E-436E-885C-C9285DEBA34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solution is a connected business operating layer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1E70B-26E9-4D14-9DBE-B4BE02856606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connects the actions that happen during the day to the records owners need at night.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B3FC9B-9B3B-4816-93F8-4CDC4E944F4D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C9066-AC19-4307-8DE1-0FAA39FD4B28}"/>
              </a:ext>
            </a:extLst>
          </p:cNvPr>
          <p:cNvSpPr>
            <a:spLocks noGrp="1"/>
          </p:cNvSpPr>
          <p:nvPr/>
        </p:nvSpPr>
        <p:spPr>
          <a:xfrm>
            <a:off x="10477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1585C-7DCC-49CC-9172-EC0BCEA09CFC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Onboard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5704B-4867-4EDE-925E-02FF1492D61B}"/>
              </a:ext>
            </a:extLst>
          </p:cNvPr>
          <p:cNvSpPr>
            <a:spLocks noGrp="1"/>
          </p:cNvSpPr>
          <p:nvPr/>
        </p:nvSpPr>
        <p:spPr>
          <a:xfrm>
            <a:off x="22860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08F42C-9183-4917-8B5A-0E24583F3C3C}"/>
              </a:ext>
            </a:extLst>
          </p:cNvPr>
          <p:cNvSpPr>
            <a:spLocks noGrp="1"/>
          </p:cNvSpPr>
          <p:nvPr/>
        </p:nvSpPr>
        <p:spPr>
          <a:xfrm>
            <a:off x="26670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492FEC-5B21-4238-97AF-AF1F99CC3D80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585ECA-A352-4C32-9554-03D97EC36432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Catalog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13A834-6814-42A1-88D0-7D0E92630845}"/>
              </a:ext>
            </a:extLst>
          </p:cNvPr>
          <p:cNvSpPr>
            <a:spLocks noGrp="1"/>
          </p:cNvSpPr>
          <p:nvPr/>
        </p:nvSpPr>
        <p:spPr>
          <a:xfrm>
            <a:off x="409575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4E0805-CB39-4A53-B8F0-53ECF9D0BF10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88FA3-F1D8-4181-8A3F-950EE83DE51F}"/>
              </a:ext>
            </a:extLst>
          </p:cNvPr>
          <p:cNvSpPr>
            <a:spLocks noGrp="1"/>
          </p:cNvSpPr>
          <p:nvPr/>
        </p:nvSpPr>
        <p:spPr>
          <a:xfrm>
            <a:off x="46672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7E66C-78E5-4AB7-B256-98403D481C81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Stock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84A4B7-E10F-4AF8-9EF9-7741CD90AE5B}"/>
              </a:ext>
            </a:extLst>
          </p:cNvPr>
          <p:cNvSpPr>
            <a:spLocks noGrp="1"/>
          </p:cNvSpPr>
          <p:nvPr/>
        </p:nvSpPr>
        <p:spPr>
          <a:xfrm>
            <a:off x="59055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DA908F-B66F-47BA-9900-606A8E4B6AEB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E91DC-6B81-484B-8C4E-2B9FDD039CCB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B2A611-AEC2-459E-8B6C-18F637130FAA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Sell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60DD03-96D6-4B64-8943-34ABD14BBF09}"/>
              </a:ext>
            </a:extLst>
          </p:cNvPr>
          <p:cNvSpPr>
            <a:spLocks noGrp="1"/>
          </p:cNvSpPr>
          <p:nvPr/>
        </p:nvSpPr>
        <p:spPr>
          <a:xfrm>
            <a:off x="771525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6BF549-2851-4D98-BFDA-93286405B201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8A680E-499A-4686-99DF-8185D89E3E8D}"/>
              </a:ext>
            </a:extLst>
          </p:cNvPr>
          <p:cNvSpPr>
            <a:spLocks noGrp="1"/>
          </p:cNvSpPr>
          <p:nvPr/>
        </p:nvSpPr>
        <p:spPr>
          <a:xfrm>
            <a:off x="82867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EFF67B-AFBD-4AD8-A333-46747DA726E0}"/>
              </a:ext>
            </a:extLst>
          </p:cNvPr>
          <p:cNvSpPr>
            <a:spLocks noGrp="1"/>
          </p:cNvSpPr>
          <p:nvPr/>
        </p:nvSpPr>
        <p:spPr>
          <a:xfrm>
            <a:off x="82867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Collect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F91BDE-7589-403B-A6C7-10B29CF92CA0}"/>
              </a:ext>
            </a:extLst>
          </p:cNvPr>
          <p:cNvSpPr>
            <a:spLocks noGrp="1"/>
          </p:cNvSpPr>
          <p:nvPr/>
        </p:nvSpPr>
        <p:spPr>
          <a:xfrm>
            <a:off x="95250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E093F1-F28B-47A4-AE89-AC4C611DA297}"/>
              </a:ext>
            </a:extLst>
          </p:cNvPr>
          <p:cNvSpPr>
            <a:spLocks noGrp="1"/>
          </p:cNvSpPr>
          <p:nvPr/>
        </p:nvSpPr>
        <p:spPr>
          <a:xfrm>
            <a:off x="99060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454BC6-5204-468A-8930-01B247B896D4}"/>
              </a:ext>
            </a:extLst>
          </p:cNvPr>
          <p:cNvSpPr>
            <a:spLocks noGrp="1"/>
          </p:cNvSpPr>
          <p:nvPr/>
        </p:nvSpPr>
        <p:spPr>
          <a:xfrm>
            <a:off x="100965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9F47F1-3C76-4DCD-B344-2E15F59AA3CE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00EB6E-4A0F-4F73-8503-B53B7EC2E658}"/>
              </a:ext>
            </a:extLst>
          </p:cNvPr>
          <p:cNvSpPr>
            <a:spLocks noGrp="1"/>
          </p:cNvSpPr>
          <p:nvPr/>
        </p:nvSpPr>
        <p:spPr>
          <a:xfrm>
            <a:off x="1428750" y="43624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7A"/>
                </a:solidFill>
              </a:defRPr>
            </a:pPr>
            <a:r>
              <a:rPr sz="1650" b="0">
                <a:solidFill>
                  <a:srgbClr val="53657A"/>
                </a:solidFill>
              </a:rPr>
              <a:t>Each module feeds the next: inventory informs sales, payments inform credit and reports, and audit logs preserve accountability.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B440DB3-2FC1-4A57-93FC-850A97EA0BF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58806F-6C28-43F1-9E3A-28CCA8469B22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295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7AAC36C-BAF8-43F1-8ED1-3A6A302F588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Role-based access keeps every user inside the right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79D0A4-32B2-46CD-9F16-858AB7C049E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combines fixed platform roles with flexible employee permissions owned by each business.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961121-D57C-4025-A001-2062BCC017B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F55410-8DCA-417C-8ACE-A4764D3F2A10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Super Admin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C1A0-11EC-4F90-892A-8003EA37A7AB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platform visibility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View businesses and users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Monitor health and audit logs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subscriptions and inbox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86E8A3-D72B-41F8-856D-F899B1633C24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F80D26-D988-49F0-AFF2-4F29DB71F7CC}"/>
              </a:ext>
            </a:extLst>
          </p:cNvPr>
          <p:cNvSpPr>
            <a:spLocks noGrp="1"/>
          </p:cNvSpPr>
          <p:nvPr/>
        </p:nvSpPr>
        <p:spPr>
          <a:xfrm>
            <a:off x="45148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Business Owner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516DC-F4BD-434D-B738-9977A5E10641}"/>
              </a:ext>
            </a:extLst>
          </p:cNvPr>
          <p:cNvSpPr>
            <a:spLocks noGrp="1"/>
          </p:cNvSpPr>
          <p:nvPr/>
        </p:nvSpPr>
        <p:spPr>
          <a:xfrm>
            <a:off x="45529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Complete onboarding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catalog and stock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Create employees and permissions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Review reports and transactions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5752D0-814B-45EC-91A5-B2FC487CD7C4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FFF7E2"/>
          </a:solidFill>
          <a:ln w="9525">
            <a:solidFill>
              <a:srgbClr val="ECCA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787BC7-D459-44F2-9258-6942152E9062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A16207"/>
                </a:solidFill>
              </a:defRPr>
            </a:pPr>
            <a:r>
              <a:rPr sz="1950" b="1">
                <a:solidFill>
                  <a:srgbClr val="A16207"/>
                </a:solidFill>
              </a:rPr>
              <a:t>Employee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46ED14-B15E-46AA-920F-3FBE31E0D1F2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Access only assigned modules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Sell, stock, or support workflows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Use dashboard when a module is granted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Cannot cross business boundaries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BCBDC9-BA47-4354-B873-F7C92306D37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A49D0-233A-4FED-B8F5-3F240C192404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680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851B103-4A1E-4A71-8672-F3BBAEDD6C2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Onboarding is intentionally simple before access is granted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F77420-0FD7-4EAA-A5AA-89ADFA3336F4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A new owner signs up, verifies email and phone, creates a minimal business profile, then chooses trial or paid access.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4F8EC4-9AB0-48CE-8582-58F277427E5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9E3C4-54F6-4EAA-B1AB-EEB21BBE8597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Sign 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AAE00-36E7-4DD1-B584-AD0B2B8D1152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Create account with strong password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2A8C7D-601D-45ED-8D7C-DC532C868645}"/>
              </a:ext>
            </a:extLst>
          </p:cNvPr>
          <p:cNvSpPr>
            <a:spLocks noGrp="1"/>
          </p:cNvSpPr>
          <p:nvPr/>
        </p:nvSpPr>
        <p:spPr>
          <a:xfrm>
            <a:off x="3000375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E959C6-DA5A-4832-ABD3-4018C8CB8F03}"/>
              </a:ext>
            </a:extLst>
          </p:cNvPr>
          <p:cNvSpPr>
            <a:spLocks noGrp="1"/>
          </p:cNvSpPr>
          <p:nvPr/>
        </p:nvSpPr>
        <p:spPr>
          <a:xfrm>
            <a:off x="3190875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Verify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6D10E2-D640-4F58-8C48-736774B1CE79}"/>
              </a:ext>
            </a:extLst>
          </p:cNvPr>
          <p:cNvSpPr>
            <a:spLocks noGrp="1"/>
          </p:cNvSpPr>
          <p:nvPr/>
        </p:nvSpPr>
        <p:spPr>
          <a:xfrm>
            <a:off x="3190875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Email and phone confirm identity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91B531-8AE7-4AC5-8285-59078138F401}"/>
              </a:ext>
            </a:extLst>
          </p:cNvPr>
          <p:cNvSpPr>
            <a:spLocks noGrp="1"/>
          </p:cNvSpPr>
          <p:nvPr/>
        </p:nvSpPr>
        <p:spPr>
          <a:xfrm>
            <a:off x="504825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4D9C0E-D679-4FDE-AB71-2221DD5058D2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Profile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60B4A0-5E4B-4815-820C-7B4AD4ABE2E2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Business name, category, optional logo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208744-45A2-4BB6-B658-2099F3B04FC3}"/>
              </a:ext>
            </a:extLst>
          </p:cNvPr>
          <p:cNvSpPr>
            <a:spLocks noGrp="1"/>
          </p:cNvSpPr>
          <p:nvPr/>
        </p:nvSpPr>
        <p:spPr>
          <a:xfrm>
            <a:off x="7096125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103DB2-5706-46F8-9285-ECD41C50A65D}"/>
              </a:ext>
            </a:extLst>
          </p:cNvPr>
          <p:cNvSpPr>
            <a:spLocks noGrp="1"/>
          </p:cNvSpPr>
          <p:nvPr/>
        </p:nvSpPr>
        <p:spPr>
          <a:xfrm>
            <a:off x="7286625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Plan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C00C5-C114-481B-B79D-4689C83D8E1B}"/>
              </a:ext>
            </a:extLst>
          </p:cNvPr>
          <p:cNvSpPr>
            <a:spLocks noGrp="1"/>
          </p:cNvSpPr>
          <p:nvPr/>
        </p:nvSpPr>
        <p:spPr>
          <a:xfrm>
            <a:off x="7286625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Trial or paid subscription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DCABC2-8F34-4DFC-A6A7-8EA954192989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008C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7A87C3-BCAF-44B7-AD0B-3D8AA6818C92}"/>
              </a:ext>
            </a:extLst>
          </p:cNvPr>
          <p:cNvSpPr>
            <a:spLocks noGrp="1"/>
          </p:cNvSpPr>
          <p:nvPr/>
        </p:nvSpPr>
        <p:spPr>
          <a:xfrm>
            <a:off x="933450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14BC03-DA6C-4935-8DB4-B0E22788B965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Dashboard opens after trial or payment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095E2-103C-45A8-8163-945E135388E2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8C4A"/>
                </a:solidFill>
              </a:defRPr>
            </a:pPr>
            <a:r>
              <a:rPr sz="1575" b="1">
                <a:solidFill>
                  <a:srgbClr val="008C4A"/>
                </a:solidFill>
              </a:rPr>
              <a:t>Document upload review is no longer the gate for access; access is driven by verified trial or payment status.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E9744D-E5ED-484D-B91D-E0581DB263B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66DB2-CF2F-4405-9CB9-654B0DF5A8F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956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CB33FC9-26EF-42C1-9EFE-26FCDC7A0E3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owner workspace centers the modules used every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78B5F-D3A6-4A86-B8F4-08A6659F1825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The sidebar is organized by work context so the system feels professional and predictable.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0E55DA-B397-413C-A2BF-C0CBC1243CA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F3F86E-E767-4654-88C1-496382A5BE9F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Workspace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8CC2-6284-4BE7-9E24-C9CCF5A96F66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Dashboard, notifications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4C96D3-8B84-4F80-8A5D-E10518B4B973}"/>
              </a:ext>
            </a:extLst>
          </p:cNvPr>
          <p:cNvSpPr>
            <a:spLocks noGrp="1"/>
          </p:cNvSpPr>
          <p:nvPr/>
        </p:nvSpPr>
        <p:spPr>
          <a:xfrm>
            <a:off x="432435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DCE16-B9ED-4434-81FD-6766C3548622}"/>
              </a:ext>
            </a:extLst>
          </p:cNvPr>
          <p:cNvSpPr>
            <a:spLocks noGrp="1"/>
          </p:cNvSpPr>
          <p:nvPr/>
        </p:nvSpPr>
        <p:spPr>
          <a:xfrm>
            <a:off x="453390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Catalog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87D5E4-7C3E-4938-A116-8076DF8FC65B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Categories, products, inventory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08492E-5C5E-4358-B932-74E9ACEE8694}"/>
              </a:ext>
            </a:extLst>
          </p:cNvPr>
          <p:cNvSpPr>
            <a:spLocks noGrp="1"/>
          </p:cNvSpPr>
          <p:nvPr/>
        </p:nvSpPr>
        <p:spPr>
          <a:xfrm>
            <a:off x="803910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B9EFCA-AE68-440D-BAB6-A9DE21143905}"/>
              </a:ext>
            </a:extLst>
          </p:cNvPr>
          <p:cNvSpPr>
            <a:spLocks noGrp="1"/>
          </p:cNvSpPr>
          <p:nvPr/>
        </p:nvSpPr>
        <p:spPr>
          <a:xfrm>
            <a:off x="824865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Operations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D9378-382F-413C-AFF7-F99BDDBA60D8}"/>
              </a:ext>
            </a:extLst>
          </p:cNvPr>
          <p:cNvSpPr>
            <a:spLocks noGrp="1"/>
          </p:cNvSpPr>
          <p:nvPr/>
        </p:nvSpPr>
        <p:spPr>
          <a:xfrm>
            <a:off x="824865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Sales, payments, customers, credit, transactions, reports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ECB852-3844-45B6-9EF9-CB3D3254E190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F74FBA-77BB-4269-9593-0D47159DE4B8}"/>
              </a:ext>
            </a:extLst>
          </p:cNvPr>
          <p:cNvSpPr>
            <a:spLocks noGrp="1"/>
          </p:cNvSpPr>
          <p:nvPr/>
        </p:nvSpPr>
        <p:spPr>
          <a:xfrm>
            <a:off x="2686050" y="4248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C67CB6-6CA2-4025-9E68-EBDA61E19D81}"/>
              </a:ext>
            </a:extLst>
          </p:cNvPr>
          <p:cNvSpPr>
            <a:spLocks noGrp="1"/>
          </p:cNvSpPr>
          <p:nvPr/>
        </p:nvSpPr>
        <p:spPr>
          <a:xfrm>
            <a:off x="2686050" y="46672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Employees, roles, permissions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DD889C-C9B5-4917-BB73-D47D807E9AE6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787417-9A40-4B6D-94AF-B6B2F15E8CC9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Settings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202572-0A92-4027-9049-E06E956D01CF}"/>
              </a:ext>
            </a:extLst>
          </p:cNvPr>
          <p:cNvSpPr>
            <a:spLocks noGrp="1"/>
          </p:cNvSpPr>
          <p:nvPr/>
        </p:nvSpPr>
        <p:spPr>
          <a:xfrm>
            <a:off x="6400800" y="46672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Profile, business, appearance, plan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CAFBB6-4CE7-4125-88C5-BDAFBB91944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F03939-C7BE-4ECF-9395-96109A1B7BF3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607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9A1470-F374-4F79-8168-95BA9DB3C0E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Catalog and inventory create the product source of truth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5CCB2-3F4F-44B1-803D-578FAF5376F5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Products are simplified while inventory batches carry cost, selling price, expiry, stock health, and FIFO movement.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14474" r="14474"/>
          <a:stretch>
            <a:fillRect/>
          </a:stretch>
        </p:blipFill>
        <p:spPr>
          <a:xfrm>
            <a:off x="7239000" y="1619250"/>
            <a:ext cx="3429000" cy="3619500"/>
          </a:xfrm>
          <a:prstGeom prst="roundRect">
            <a:avLst>
              <a:gd name="adj" fmla="val 4444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291092-E6C2-41F5-8C41-426924B5A2D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905500" cy="3543300"/>
          </a:xfrm>
          <a:prstGeom prst="roundRect">
            <a:avLst>
              <a:gd name="adj" fmla="val 4301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12C19-0CE6-4732-845C-A2612EC720FD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5334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Categories are created before products for clean reporting.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Product barcode and QR labels are generated automatically.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Restocks create batch and lot records with unit cost and selling price.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Sales consume stock FIFO, oldest batch first.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Inventory cards show stock health, available stock, and batch breakdown.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A50DED-7153-40CE-9F5B-2FAD01D4864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9FC91-B3A1-49F2-97E9-38F66692FC7A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7068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4D7C431-9E07-4D3D-9372-ADD9F37B4E9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POS connects sales, stock, payments, credit, and receipts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FAC1F7-440F-48C4-BB8E-DC907F04701C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A sale is not just a record; it updates inventory, payment history, customer credit, receipt QR, and reports.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CE7A45-1506-4090-9D63-4627FBAFFA38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34089-C562-41A3-98D2-202468A950AB}"/>
              </a:ext>
            </a:extLst>
          </p:cNvPr>
          <p:cNvSpPr>
            <a:spLocks noGrp="1"/>
          </p:cNvSpPr>
          <p:nvPr/>
        </p:nvSpPr>
        <p:spPr>
          <a:xfrm>
            <a:off x="914400" y="2019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Cart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39F77-F24B-4DE0-933C-847BD749820D}"/>
              </a:ext>
            </a:extLst>
          </p:cNvPr>
          <p:cNvSpPr>
            <a:spLocks noGrp="1"/>
          </p:cNvSpPr>
          <p:nvPr/>
        </p:nvSpPr>
        <p:spPr>
          <a:xfrm>
            <a:off x="2476500" y="20574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Products added from catalog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D97528-EBBB-4AE5-9628-A971C7D03F4F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69030-D584-4E76-8044-F6CB685BC579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Checkout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543607-B968-420F-881D-E7EB7F55B21A}"/>
              </a:ext>
            </a:extLst>
          </p:cNvPr>
          <p:cNvSpPr>
            <a:spLocks noGrp="1"/>
          </p:cNvSpPr>
          <p:nvPr/>
        </p:nvSpPr>
        <p:spPr>
          <a:xfrm>
            <a:off x="2476500" y="32766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Cash, wallet, account, and credit split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64B25A-D623-459C-993A-54615338A7F5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FF7E2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1E72E5-EEDA-4108-A4AA-250CE7A2731A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Receipt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A35DA0-3FED-4349-BF99-72076228C400}"/>
              </a:ext>
            </a:extLst>
          </p:cNvPr>
          <p:cNvSpPr>
            <a:spLocks noGrp="1"/>
          </p:cNvSpPr>
          <p:nvPr/>
        </p:nvSpPr>
        <p:spPr>
          <a:xfrm>
            <a:off x="2476500" y="44958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Invoice, payment breakdown, QR verification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26DB25-2127-4B1C-A25D-786D403FC6B9}"/>
              </a:ext>
            </a:extLst>
          </p:cNvPr>
          <p:cNvSpPr>
            <a:spLocks noGrp="1"/>
          </p:cNvSpPr>
          <p:nvPr/>
        </p:nvSpPr>
        <p:spPr>
          <a:xfrm>
            <a:off x="5334000" y="1790700"/>
            <a:ext cx="5715000" cy="3352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7DDAB0-F132-442A-BE4C-D8C36018A9A2}"/>
              </a:ext>
            </a:extLst>
          </p:cNvPr>
          <p:cNvSpPr>
            <a:spLocks noGrp="1"/>
          </p:cNvSpPr>
          <p:nvPr/>
        </p:nvSpPr>
        <p:spPr>
          <a:xfrm>
            <a:off x="5676900" y="2095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Payment methods now supported in POS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185D18-AE64-428B-B511-6F6FB583FCD5}"/>
              </a:ext>
            </a:extLst>
          </p:cNvPr>
          <p:cNvSpPr>
            <a:spLocks noGrp="1"/>
          </p:cNvSpPr>
          <p:nvPr/>
        </p:nvSpPr>
        <p:spPr>
          <a:xfrm>
            <a:off x="567690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D511D1-A322-41A8-884F-0A11971A5ED2}"/>
              </a:ext>
            </a:extLst>
          </p:cNvPr>
          <p:cNvSpPr>
            <a:spLocks noGrp="1"/>
          </p:cNvSpPr>
          <p:nvPr/>
        </p:nvSpPr>
        <p:spPr>
          <a:xfrm>
            <a:off x="582930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Cash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BB6F708-2143-4A39-8C9F-7A14365C3E18}"/>
              </a:ext>
            </a:extLst>
          </p:cNvPr>
          <p:cNvSpPr>
            <a:spLocks noGrp="1"/>
          </p:cNvSpPr>
          <p:nvPr/>
        </p:nvSpPr>
        <p:spPr>
          <a:xfrm>
            <a:off x="729615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0450" y="2897010"/>
            <a:ext cx="400050" cy="206730"/>
          </a:xfrm>
          <a:prstGeom prst="roundRect">
            <a:avLst>
              <a:gd name="adj" fmla="val 17647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57C6A57-0CF1-4B26-AF2E-EFA94ED08019}"/>
              </a:ext>
            </a:extLst>
          </p:cNvPr>
          <p:cNvSpPr>
            <a:spLocks noGrp="1"/>
          </p:cNvSpPr>
          <p:nvPr/>
        </p:nvSpPr>
        <p:spPr>
          <a:xfrm>
            <a:off x="788670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Telebirr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BF00C97-0BD4-4DBD-AC04-09D586DC5664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29700" y="2888047"/>
            <a:ext cx="400050" cy="224656"/>
          </a:xfrm>
          <a:prstGeom prst="roundRect">
            <a:avLst>
              <a:gd name="adj" fmla="val 17647"/>
            </a:avLst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F6D5E85-42A9-4C41-9B05-EBF31B9F5D0B}"/>
              </a:ext>
            </a:extLst>
          </p:cNvPr>
          <p:cNvSpPr>
            <a:spLocks noGrp="1"/>
          </p:cNvSpPr>
          <p:nvPr/>
        </p:nvSpPr>
        <p:spPr>
          <a:xfrm>
            <a:off x="950595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M-Pesa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A1BE9E-E666-4B96-8544-C0F77E8DCF87}"/>
              </a:ext>
            </a:extLst>
          </p:cNvPr>
          <p:cNvSpPr>
            <a:spLocks noGrp="1"/>
          </p:cNvSpPr>
          <p:nvPr/>
        </p:nvSpPr>
        <p:spPr>
          <a:xfrm>
            <a:off x="567690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91200" y="3738077"/>
            <a:ext cx="400050" cy="277197"/>
          </a:xfrm>
          <a:prstGeom prst="roundRect">
            <a:avLst>
              <a:gd name="adj" fmla="val 17647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3409C9D-D3DC-429B-947B-717DD381AB70}"/>
              </a:ext>
            </a:extLst>
          </p:cNvPr>
          <p:cNvSpPr>
            <a:spLocks noGrp="1"/>
          </p:cNvSpPr>
          <p:nvPr/>
        </p:nvSpPr>
        <p:spPr>
          <a:xfrm>
            <a:off x="626745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CBE Birr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21FF26F-29CD-4012-B0F8-ADF510D89B58}"/>
              </a:ext>
            </a:extLst>
          </p:cNvPr>
          <p:cNvSpPr>
            <a:spLocks noGrp="1"/>
          </p:cNvSpPr>
          <p:nvPr/>
        </p:nvSpPr>
        <p:spPr>
          <a:xfrm>
            <a:off x="729615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48550" y="3714750"/>
            <a:ext cx="323850" cy="323850"/>
          </a:xfrm>
          <a:prstGeom prst="roundRect">
            <a:avLst>
              <a:gd name="adj" fmla="val 17647"/>
            </a:avLst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8ECFC67-A85C-47C4-A6CE-EC43AF2A88E7}"/>
              </a:ext>
            </a:extLst>
          </p:cNvPr>
          <p:cNvSpPr>
            <a:spLocks noGrp="1"/>
          </p:cNvSpPr>
          <p:nvPr/>
        </p:nvSpPr>
        <p:spPr>
          <a:xfrm>
            <a:off x="788670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Apollo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37FA614-40C9-4CC7-8EB1-9E16F94CBE28}"/>
              </a:ext>
            </a:extLst>
          </p:cNvPr>
          <p:cNvSpPr>
            <a:spLocks noGrp="1"/>
          </p:cNvSpPr>
          <p:nvPr/>
        </p:nvSpPr>
        <p:spPr>
          <a:xfrm>
            <a:off x="891540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C0D243-63F4-4BA7-A910-EAF892943823}"/>
              </a:ext>
            </a:extLst>
          </p:cNvPr>
          <p:cNvSpPr>
            <a:spLocks noGrp="1"/>
          </p:cNvSpPr>
          <p:nvPr/>
        </p:nvSpPr>
        <p:spPr>
          <a:xfrm>
            <a:off x="906780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Credit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264E76-FE6A-4618-9170-048C379783E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56BC31-FE64-4DB2-9676-213BCC7BAAF0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5913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B13B3A6-9DF2-41D5-B062-13652BC8716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Customer logic combines identity, credit, and loyalty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061C75-0A8E-4328-8113-239A0DE7797F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Customers can be individuals, companies, or government accounts, with credit and discount logic derived from real activity.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84AE0C-13DB-4335-AC16-6F62F25B18B6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40CF7B-6F34-4003-8AFC-0D88CB05C110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3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A8849-CCB9-4A2C-BDBE-D72FD24E4EF6}"/>
              </a:ext>
            </a:extLst>
          </p:cNvPr>
          <p:cNvSpPr>
            <a:spLocks noGrp="1"/>
          </p:cNvSpPr>
          <p:nvPr/>
        </p:nvSpPr>
        <p:spPr>
          <a:xfrm>
            <a:off x="81915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Flexible customer identity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A57133-6245-46BE-8F2C-C7945A6A8072}"/>
              </a:ext>
            </a:extLst>
          </p:cNvPr>
          <p:cNvSpPr>
            <a:spLocks noGrp="1"/>
          </p:cNvSpPr>
          <p:nvPr/>
        </p:nvSpPr>
        <p:spPr>
          <a:xfrm>
            <a:off x="390525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F0CF23-358B-43C3-9121-160AE3D3E2B2}"/>
              </a:ext>
            </a:extLst>
          </p:cNvPr>
          <p:cNvSpPr>
            <a:spLocks noGrp="1"/>
          </p:cNvSpPr>
          <p:nvPr/>
        </p:nvSpPr>
        <p:spPr>
          <a:xfrm>
            <a:off x="411480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0 ETB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425F31-8D90-4206-ADDE-FC6393EA1052}"/>
              </a:ext>
            </a:extLst>
          </p:cNvPr>
          <p:cNvSpPr>
            <a:spLocks noGrp="1"/>
          </p:cNvSpPr>
          <p:nvPr/>
        </p:nvSpPr>
        <p:spPr>
          <a:xfrm>
            <a:off x="411480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Credit starts safely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2246CB-4548-43DE-86D3-5F126B3A95CF}"/>
              </a:ext>
            </a:extLst>
          </p:cNvPr>
          <p:cNvSpPr>
            <a:spLocks noGrp="1"/>
          </p:cNvSpPr>
          <p:nvPr/>
        </p:nvSpPr>
        <p:spPr>
          <a:xfrm>
            <a:off x="720090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4A6051-F325-4F21-A79A-233A4CA885F7}"/>
              </a:ext>
            </a:extLst>
          </p:cNvPr>
          <p:cNvSpPr>
            <a:spLocks noGrp="1"/>
          </p:cNvSpPr>
          <p:nvPr/>
        </p:nvSpPr>
        <p:spPr>
          <a:xfrm>
            <a:off x="741045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Rules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6BBE8-D41C-4D7E-8BE0-AF4E0DFE3595}"/>
              </a:ext>
            </a:extLst>
          </p:cNvPr>
          <p:cNvSpPr>
            <a:spLocks noGrp="1"/>
          </p:cNvSpPr>
          <p:nvPr/>
        </p:nvSpPr>
        <p:spPr>
          <a:xfrm>
            <a:off x="741045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Discounts can be automatic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3683A5-FFAA-4977-80C8-DCA9E3DCA8E3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99060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55206-C440-418C-8A50-7A3AD5CC9543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The owner can define spend-based discounts and override credit limits, while the system suggests limits from purchase and payment behavior.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C4901-A80B-4937-ACF5-2480406C080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5E6390-4692-4647-8D28-DEA8818969BD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1512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15518D-8BDA-45A3-AED4-399004F7275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Transactions unify money movement into one 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E237B3-B951-4F3A-B3B2-DA59E1DAF41C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Expense and revenue history are easier to understand when they are shown together and separately.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09600" y="1866900"/>
          <a:ext cx="50482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8AF406-ED06-4E20-BAF4-4F893EDB002D}"/>
              </a:ext>
            </a:extLst>
          </p:cNvPr>
          <p:cNvSpPr>
            <a:spLocks noGrp="1"/>
          </p:cNvSpPr>
          <p:nvPr/>
        </p:nvSpPr>
        <p:spPr>
          <a:xfrm>
            <a:off x="6572250" y="1885950"/>
            <a:ext cx="40005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FDD3D8-33A7-4257-B5C3-20D2451AF067}"/>
              </a:ext>
            </a:extLst>
          </p:cNvPr>
          <p:cNvSpPr>
            <a:spLocks noGrp="1"/>
          </p:cNvSpPr>
          <p:nvPr/>
        </p:nvSpPr>
        <p:spPr>
          <a:xfrm>
            <a:off x="6934200" y="2286000"/>
            <a:ext cx="33718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Manual expenses remain supported.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Restock expenses are generated automatically.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Payroll expenses can be scheduled.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Reports can filter by transaction source.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62F20B-CE53-4A3B-94E2-A53860F7F60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8E8D7A-0CA6-46FA-893D-E520789DA638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9193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7B7F6C-A096-4BAA-90FF-C63A4381ECC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Reporting turns operational records into owner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CC6F0F-F55C-435E-908E-A9AA0687334E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Reports combine sales, inventory, product performance, credit, expenses, and profit analytics.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19839A-ECA9-43EC-93EC-F6424C7C6F4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2EB36A-2FA3-4CD8-BE4A-7FDD70A19E93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Reports answer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BD883-137D-4A74-A07B-CBFA66DB7208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571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products sell best?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items are stagnant?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What is real product profit?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Where is money going?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customers carry credit?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4572000" y="1809750"/>
          <a:ext cx="5810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374C3B1-3E51-4153-9027-55AB3B85F5A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BEA0FD-3C93-403A-BE2A-3BCB18BE2440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7311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4ABE75C-4203-46D0-8285-22D1430F0D2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Super admin manages the platform, not each owner’s business choices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1DD26-85DE-4351-8B92-80DA1DDE307F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The super admin monitors platform health, subscriptions, businesses, users, inbox, notifications, and audit explorer.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E9997F-ABEB-4921-A044-6FCBFFCF74E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75985">
              <a:alpha val="7843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ADC9A5-DF3C-414C-8F3B-36344CAE9716}"/>
              </a:ext>
            </a:extLst>
          </p:cNvPr>
          <p:cNvSpPr>
            <a:spLocks noGrp="1"/>
          </p:cNvSpPr>
          <p:nvPr/>
        </p:nvSpPr>
        <p:spPr>
          <a:xfrm>
            <a:off x="8191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Platform dashboard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7BE2F5-3E60-41E9-A8F2-8DC02E8E62D8}"/>
              </a:ext>
            </a:extLst>
          </p:cNvPr>
          <p:cNvSpPr>
            <a:spLocks noGrp="1"/>
          </p:cNvSpPr>
          <p:nvPr/>
        </p:nvSpPr>
        <p:spPr>
          <a:xfrm>
            <a:off x="42291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08C4A">
              <a:alpha val="7843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B3553-ECCC-4085-BEC8-C3B2D3ED098C}"/>
              </a:ext>
            </a:extLst>
          </p:cNvPr>
          <p:cNvSpPr>
            <a:spLocks noGrp="1"/>
          </p:cNvSpPr>
          <p:nvPr/>
        </p:nvSpPr>
        <p:spPr>
          <a:xfrm>
            <a:off x="44386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8C4A"/>
                </a:solidFill>
              </a:defRPr>
            </a:pPr>
            <a:r>
              <a:rPr sz="1650" b="1">
                <a:solidFill>
                  <a:srgbClr val="008C4A"/>
                </a:solidFill>
              </a:rPr>
              <a:t>Business directory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027D44-0184-4E94-982D-F9B7189F2B23}"/>
              </a:ext>
            </a:extLst>
          </p:cNvPr>
          <p:cNvSpPr>
            <a:spLocks noGrp="1"/>
          </p:cNvSpPr>
          <p:nvPr/>
        </p:nvSpPr>
        <p:spPr>
          <a:xfrm>
            <a:off x="78486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B4235A">
              <a:alpha val="7843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6781B8-EE6A-45FE-B34F-14A0F5D8BA44}"/>
              </a:ext>
            </a:extLst>
          </p:cNvPr>
          <p:cNvSpPr>
            <a:spLocks noGrp="1"/>
          </p:cNvSpPr>
          <p:nvPr/>
        </p:nvSpPr>
        <p:spPr>
          <a:xfrm>
            <a:off x="80581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4235A"/>
                </a:solidFill>
              </a:defRPr>
            </a:pPr>
            <a:r>
              <a:rPr sz="1650" b="1">
                <a:solidFill>
                  <a:srgbClr val="B4235A"/>
                </a:solidFill>
              </a:rPr>
              <a:t>Users and account status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A022A2-B09E-4995-8F7B-133AC74B6307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5B942">
              <a:alpha val="7843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E74D4D-7ECA-4FC6-8641-80F84CFC0A29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5B942"/>
                </a:solidFill>
              </a:defRPr>
            </a:pPr>
            <a:r>
              <a:rPr sz="1650" b="1">
                <a:solidFill>
                  <a:srgbClr val="F5B942"/>
                </a:solidFill>
              </a:rPr>
              <a:t>System health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D22672-A1AF-47FD-9564-1EDB007C7C1C}"/>
              </a:ext>
            </a:extLst>
          </p:cNvPr>
          <p:cNvSpPr>
            <a:spLocks noGrp="1"/>
          </p:cNvSpPr>
          <p:nvPr/>
        </p:nvSpPr>
        <p:spPr>
          <a:xfrm>
            <a:off x="42291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F766E">
              <a:alpha val="7843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F26B4-F0B7-4110-B532-D3CFA6C57639}"/>
              </a:ext>
            </a:extLst>
          </p:cNvPr>
          <p:cNvSpPr>
            <a:spLocks noGrp="1"/>
          </p:cNvSpPr>
          <p:nvPr/>
        </p:nvSpPr>
        <p:spPr>
          <a:xfrm>
            <a:off x="44386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Inbox and notifications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8EC869-FDFC-47C5-821F-946303EB2E6B}"/>
              </a:ext>
            </a:extLst>
          </p:cNvPr>
          <p:cNvSpPr>
            <a:spLocks noGrp="1"/>
          </p:cNvSpPr>
          <p:nvPr/>
        </p:nvSpPr>
        <p:spPr>
          <a:xfrm>
            <a:off x="78486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7C3AED">
              <a:alpha val="7843"/>
            </a:srgbClr>
          </a:solidFill>
          <a:ln w="9525">
            <a:solidFill>
              <a:srgbClr val="7C3AED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281A40-1F71-4EFA-9265-C371207A3414}"/>
              </a:ext>
            </a:extLst>
          </p:cNvPr>
          <p:cNvSpPr>
            <a:spLocks noGrp="1"/>
          </p:cNvSpPr>
          <p:nvPr/>
        </p:nvSpPr>
        <p:spPr>
          <a:xfrm>
            <a:off x="80581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Audit explorer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B4375C-FEA5-4982-B314-2C58F31A569F}"/>
              </a:ext>
            </a:extLst>
          </p:cNvPr>
          <p:cNvSpPr>
            <a:spLocks noGrp="1"/>
          </p:cNvSpPr>
          <p:nvPr/>
        </p:nvSpPr>
        <p:spPr>
          <a:xfrm>
            <a:off x="1333500" y="52197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Plan changes belong to business owners through their subscription flow; the admin directory is display and oversight focused.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25A865-705A-4900-8A9C-C347B55FE30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A5F7AF-DC0C-4828-B401-07CCF6701741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1279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02C6F1A-3FE9-46D9-AC04-BA4C235A583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business model is subscription-led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1D05E9-AF85-4890-BC5F-AE54A90C2803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monetizes through recurring business subscriptions while payment gateways remain swappable integration points.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2B5165-E5F9-491D-AA55-FAA534075C4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287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7B0108-18D3-4C88-A0FB-032FDEA929AC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4C2CC-893E-488D-A3EE-30A09A729323}"/>
              </a:ext>
            </a:extLst>
          </p:cNvPr>
          <p:cNvSpPr>
            <a:spLocks noGrp="1"/>
          </p:cNvSpPr>
          <p:nvPr/>
        </p:nvSpPr>
        <p:spPr>
          <a:xfrm>
            <a:off x="140970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Starter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2FEF05-F623-4C20-8850-B1636A03E44B}"/>
              </a:ext>
            </a:extLst>
          </p:cNvPr>
          <p:cNvSpPr>
            <a:spLocks noGrp="1"/>
          </p:cNvSpPr>
          <p:nvPr/>
        </p:nvSpPr>
        <p:spPr>
          <a:xfrm>
            <a:off x="140970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Trial / entry access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232029-7412-4C55-A2ED-5D1DD2B7AACA}"/>
              </a:ext>
            </a:extLst>
          </p:cNvPr>
          <p:cNvSpPr>
            <a:spLocks noGrp="1"/>
          </p:cNvSpPr>
          <p:nvPr/>
        </p:nvSpPr>
        <p:spPr>
          <a:xfrm>
            <a:off x="140970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2E2D22-4990-43CA-A989-B88131F01818}"/>
              </a:ext>
            </a:extLst>
          </p:cNvPr>
          <p:cNvSpPr>
            <a:spLocks noGrp="1"/>
          </p:cNvSpPr>
          <p:nvPr/>
        </p:nvSpPr>
        <p:spPr>
          <a:xfrm>
            <a:off x="447675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E8F4FF"/>
          </a:solidFill>
          <a:ln w="9525">
            <a:solidFill>
              <a:srgbClr val="008C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0B4DC1-C5FA-4052-A60D-D604074A93A6}"/>
              </a:ext>
            </a:extLst>
          </p:cNvPr>
          <p:cNvSpPr>
            <a:spLocks noGrp="1"/>
          </p:cNvSpPr>
          <p:nvPr/>
        </p:nvSpPr>
        <p:spPr>
          <a:xfrm>
            <a:off x="474345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Growth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84E74F-6DA6-4CD8-9C56-B51F5A4A2258}"/>
              </a:ext>
            </a:extLst>
          </p:cNvPr>
          <p:cNvSpPr>
            <a:spLocks noGrp="1"/>
          </p:cNvSpPr>
          <p:nvPr/>
        </p:nvSpPr>
        <p:spPr>
          <a:xfrm>
            <a:off x="474345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Paid plan for active operations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6D96AE-0C8D-44D6-9D03-38C5F662CFF9}"/>
              </a:ext>
            </a:extLst>
          </p:cNvPr>
          <p:cNvSpPr>
            <a:spLocks noGrp="1"/>
          </p:cNvSpPr>
          <p:nvPr/>
        </p:nvSpPr>
        <p:spPr>
          <a:xfrm>
            <a:off x="474345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BF039C-91BC-4C8D-B33B-DE8CB773E61B}"/>
              </a:ext>
            </a:extLst>
          </p:cNvPr>
          <p:cNvSpPr>
            <a:spLocks noGrp="1"/>
          </p:cNvSpPr>
          <p:nvPr/>
        </p:nvSpPr>
        <p:spPr>
          <a:xfrm>
            <a:off x="781050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FFF7E2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841FA-0024-4975-8997-0DDCA644E77E}"/>
              </a:ext>
            </a:extLst>
          </p:cNvPr>
          <p:cNvSpPr>
            <a:spLocks noGrp="1"/>
          </p:cNvSpPr>
          <p:nvPr/>
        </p:nvSpPr>
        <p:spPr>
          <a:xfrm>
            <a:off x="807720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Enterprise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212D29-485D-4A9A-A096-3D2A2C76DAF3}"/>
              </a:ext>
            </a:extLst>
          </p:cNvPr>
          <p:cNvSpPr>
            <a:spLocks noGrp="1"/>
          </p:cNvSpPr>
          <p:nvPr/>
        </p:nvSpPr>
        <p:spPr>
          <a:xfrm>
            <a:off x="807720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Larger team and operational limits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BE0A97-DC12-4850-8B3E-C20253B46E27}"/>
              </a:ext>
            </a:extLst>
          </p:cNvPr>
          <p:cNvSpPr>
            <a:spLocks noGrp="1"/>
          </p:cNvSpPr>
          <p:nvPr/>
        </p:nvSpPr>
        <p:spPr>
          <a:xfrm>
            <a:off x="807720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4932E-03AE-4E21-800A-2A38ECDB2A2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717B72-550C-43E4-B58F-99B812A64FA4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68996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3A79510-FBE0-4DDE-817C-243EDAEC0AE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Gateway design is demo-ready now and integration-ready later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335F0-0CF8-493D-93A4-6F2759FE3E65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The UI already models real provider selection, customer references, confirmation, receipts, and ledger history.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C6CE56-DCF4-46EA-9EE2-E59F25C7D61A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2125" y="2430418"/>
            <a:ext cx="952500" cy="492214"/>
          </a:xfrm>
          <a:prstGeom prst="roundRect">
            <a:avLst>
              <a:gd name="adj" fmla="val 12903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37E4B2-4A73-4840-9CEB-543015247B6B}"/>
              </a:ext>
            </a:extLst>
          </p:cNvPr>
          <p:cNvSpPr>
            <a:spLocks noGrp="1"/>
          </p:cNvSpPr>
          <p:nvPr/>
        </p:nvSpPr>
        <p:spPr>
          <a:xfrm>
            <a:off x="156210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Telebirr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17CFBE-F47C-4B18-93CB-4982DC6D73B3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43375" y="2409077"/>
            <a:ext cx="952500" cy="534895"/>
          </a:xfrm>
          <a:prstGeom prst="roundRect">
            <a:avLst>
              <a:gd name="adj" fmla="val 1290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E51C80-6EA3-4219-A803-D573A79ED1CC}"/>
              </a:ext>
            </a:extLst>
          </p:cNvPr>
          <p:cNvSpPr>
            <a:spLocks noGrp="1"/>
          </p:cNvSpPr>
          <p:nvPr/>
        </p:nvSpPr>
        <p:spPr>
          <a:xfrm>
            <a:off x="394335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M-Pesa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B00EE9-FA39-463A-A279-947BA9925201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4735" y="2381250"/>
            <a:ext cx="852280" cy="590550"/>
          </a:xfrm>
          <a:prstGeom prst="roundRect">
            <a:avLst>
              <a:gd name="adj" fmla="val 12903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3026774-FAA9-448F-A45F-9448DB6513CC}"/>
              </a:ext>
            </a:extLst>
          </p:cNvPr>
          <p:cNvSpPr>
            <a:spLocks noGrp="1"/>
          </p:cNvSpPr>
          <p:nvPr/>
        </p:nvSpPr>
        <p:spPr>
          <a:xfrm>
            <a:off x="632460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CBE Birr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60471D-91C2-4CD9-9A81-E570AC508AB7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86850" y="2381250"/>
            <a:ext cx="590550" cy="590550"/>
          </a:xfrm>
          <a:prstGeom prst="roundRect">
            <a:avLst>
              <a:gd name="adj" fmla="val 12903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42EBF20-DEC5-4291-A756-C6AFC387AA0C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Apollo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723D9A-CF21-4752-A156-F4ABD162BA46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The current demo checkout can later hand off to real APIs without changing the business workflow.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A4FD2B-0AD3-4A31-BC3D-CCFDE2DCE08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7F388-623F-4F92-8A0F-50BAE70A2458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91750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A20BD-9F5E-4AD3-8CFE-920C767E2BC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database separates BizTrack business data from Laravel system 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FEA495-515F-4880-9669-712288AC4862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This keeps domain logic readable while the framework tables handle sessions, jobs, cache, and authentication support.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9F3CEA-CFFC-4134-A889-AE43668EFF38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01463-2528-405E-8BF0-273B3B11E470}"/>
              </a:ext>
            </a:extLst>
          </p:cNvPr>
          <p:cNvSpPr>
            <a:spLocks noGrp="1"/>
          </p:cNvSpPr>
          <p:nvPr/>
        </p:nvSpPr>
        <p:spPr>
          <a:xfrm>
            <a:off x="1257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27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FAF985-86F5-4AB5-9B79-111A40293A27}"/>
              </a:ext>
            </a:extLst>
          </p:cNvPr>
          <p:cNvSpPr>
            <a:spLocks noGrp="1"/>
          </p:cNvSpPr>
          <p:nvPr/>
        </p:nvSpPr>
        <p:spPr>
          <a:xfrm>
            <a:off x="1257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BizTrack domain tables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B96FDA-6031-4A72-A2C6-8281BD30E75C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84DF87-D9FC-43E7-A4FF-106F72D4B0FD}"/>
              </a:ext>
            </a:extLst>
          </p:cNvPr>
          <p:cNvSpPr>
            <a:spLocks noGrp="1"/>
          </p:cNvSpPr>
          <p:nvPr/>
        </p:nvSpPr>
        <p:spPr>
          <a:xfrm>
            <a:off x="4686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58985-80E6-4CDF-9BBA-A5D2CED03909}"/>
              </a:ext>
            </a:extLst>
          </p:cNvPr>
          <p:cNvSpPr>
            <a:spLocks noGrp="1"/>
          </p:cNvSpPr>
          <p:nvPr/>
        </p:nvSpPr>
        <p:spPr>
          <a:xfrm>
            <a:off x="4686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Laravel/system tables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9D565E-A425-4D13-AF26-8792B71B6F9B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9F7273-5930-4720-958F-3CBE08E7B264}"/>
              </a:ext>
            </a:extLst>
          </p:cNvPr>
          <p:cNvSpPr>
            <a:spLocks noGrp="1"/>
          </p:cNvSpPr>
          <p:nvPr/>
        </p:nvSpPr>
        <p:spPr>
          <a:xfrm>
            <a:off x="8115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36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193B6E-8D66-4847-9EE7-51545969A548}"/>
              </a:ext>
            </a:extLst>
          </p:cNvPr>
          <p:cNvSpPr>
            <a:spLocks noGrp="1"/>
          </p:cNvSpPr>
          <p:nvPr/>
        </p:nvSpPr>
        <p:spPr>
          <a:xfrm>
            <a:off x="8115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Total current tables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705B98-426B-4B99-AA7F-FAB501D93585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4762500" cy="1428750"/>
          </a:xfrm>
          <a:prstGeom prst="roundRect">
            <a:avLst>
              <a:gd name="adj" fmla="val 10667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D19C34-9BA2-4FB3-8A6D-8424E47380DE}"/>
              </a:ext>
            </a:extLst>
          </p:cNvPr>
          <p:cNvSpPr>
            <a:spLocks noGrp="1"/>
          </p:cNvSpPr>
          <p:nvPr/>
        </p:nvSpPr>
        <p:spPr>
          <a:xfrm>
            <a:off x="1333500" y="4000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BizTrack tables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5AA-D9B6-499E-816B-C568DD2C1E56}"/>
              </a:ext>
            </a:extLst>
          </p:cNvPr>
          <p:cNvSpPr>
            <a:spLocks noGrp="1"/>
          </p:cNvSpPr>
          <p:nvPr/>
        </p:nvSpPr>
        <p:spPr>
          <a:xfrm>
            <a:off x="1333500" y="4438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92033"/>
                </a:solidFill>
              </a:defRPr>
            </a:pPr>
            <a:r>
              <a:rPr sz="1200" b="0">
                <a:solidFill>
                  <a:srgbClr val="092033"/>
                </a:solidFill>
              </a:rPr>
              <a:t>Businesses, products, inventory, sales, payments, customers, credits, reports, notifications, audit logs, subscriptions, employees, and transactions.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C36CC6-1489-4F76-9AA2-44BED29738A4}"/>
              </a:ext>
            </a:extLst>
          </p:cNvPr>
          <p:cNvSpPr>
            <a:spLocks noGrp="1"/>
          </p:cNvSpPr>
          <p:nvPr/>
        </p:nvSpPr>
        <p:spPr>
          <a:xfrm>
            <a:off x="6381750" y="3714750"/>
            <a:ext cx="4762500" cy="1428750"/>
          </a:xfrm>
          <a:prstGeom prst="roundRect">
            <a:avLst>
              <a:gd name="adj" fmla="val 10667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0B636-FFF2-4FCF-BE27-651365232E9D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Laravel/system tables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FFFF92-71BE-46BB-AE92-113516F83EDE}"/>
              </a:ext>
            </a:extLst>
          </p:cNvPr>
          <p:cNvSpPr>
            <a:spLocks noGrp="1"/>
          </p:cNvSpPr>
          <p:nvPr/>
        </p:nvSpPr>
        <p:spPr>
          <a:xfrm>
            <a:off x="6667500" y="4438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92033"/>
                </a:solidFill>
              </a:defRPr>
            </a:pPr>
            <a:r>
              <a:rPr sz="1200" b="0">
                <a:solidFill>
                  <a:srgbClr val="092033"/>
                </a:solidFill>
              </a:rPr>
              <a:t>Cache, sessions, jobs, failed jobs, migrations, password reset tokens, passkeys, and framework support records.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255019-F15E-4AAB-A886-AE3884CDB69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C6483-AA04-4FDA-A646-6A9DCB0912D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0924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3DE228-03CC-4898-BC51-ADE9BF3BD89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Security is built into identity, access, and traceability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99F40E-407D-4471-B57C-A75FC9C8D997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protects the platform through verification, strong passwords, role boundaries, and audit records.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B7F820-41A5-468F-820B-7060A11FA0E2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723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Email verification happens during sign-up before onboarding continues.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Phone OTP supports trial activation and account trust.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Temporary employee passwords must be reset.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Employee permissions are scoped to the owner’s business.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Super admin cannot silently change owner plans from the business directory.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Audit logs answer who did what, where, when, and what changed.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EFD220-D110-49A0-8FAA-849C6034BB18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00250" cy="2190750"/>
          </a:xfrm>
          <a:prstGeom prst="roundRect">
            <a:avLst>
              <a:gd name="adj" fmla="val 7619"/>
            </a:avLst>
          </a:prstGeom>
          <a:solidFill>
            <a:srgbClr val="0B2B1D"/>
          </a:solidFill>
          <a:ln w="9525">
            <a:solidFill>
              <a:srgbClr val="0B2B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42154-ECD6-4AE8-B011-B9CF9AA9EA66}"/>
              </a:ext>
            </a:extLst>
          </p:cNvPr>
          <p:cNvSpPr>
            <a:spLocks noGrp="1"/>
          </p:cNvSpPr>
          <p:nvPr/>
        </p:nvSpPr>
        <p:spPr>
          <a:xfrm>
            <a:off x="9163050" y="23812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8CA21-5EB3-44BC-977B-BFEE5AD577EF}"/>
              </a:ext>
            </a:extLst>
          </p:cNvPr>
          <p:cNvSpPr>
            <a:spLocks noGrp="1"/>
          </p:cNvSpPr>
          <p:nvPr/>
        </p:nvSpPr>
        <p:spPr>
          <a:xfrm>
            <a:off x="9163050" y="3009900"/>
            <a:ext cx="1428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DFF7E8"/>
                </a:solidFill>
              </a:defRPr>
            </a:pPr>
            <a:r>
              <a:rPr sz="1350" b="0">
                <a:solidFill>
                  <a:srgbClr val="DFF7E8"/>
                </a:solidFill>
              </a:rPr>
              <a:t>is not a feature; it is the behavior of the whole system.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C1C0F-F653-4A82-9487-64267D31E40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F00E3-3A4B-4410-B591-184447BB1C2F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74503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78E3C5-2683-441A-9351-6CE2BCE56F5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can feel like each business’s own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83F10A-5E66-43C3-A0DF-E65A1778B63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Tenant themes use business category, logo-driven palettes, and manual appearance settings.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1865" b="21865"/>
          <a:stretch>
            <a:fillRect/>
          </a:stretch>
        </p:blipFill>
        <p:spPr>
          <a:xfrm>
            <a:off x="6858000" y="1524000"/>
            <a:ext cx="3810000" cy="3810000"/>
          </a:xfrm>
          <a:prstGeom prst="roundRect">
            <a:avLst>
              <a:gd name="adj" fmla="val 400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0E1510-5A71-4A81-ADE1-7FB33E74D97F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4953000" cy="3143250"/>
          </a:xfrm>
          <a:prstGeom prst="roundRect">
            <a:avLst>
              <a:gd name="adj" fmla="val 4848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79F24A-F22A-4E87-8BF2-BF6EE1CA31B7}"/>
              </a:ext>
            </a:extLst>
          </p:cNvPr>
          <p:cNvSpPr>
            <a:spLocks noGrp="1"/>
          </p:cNvSpPr>
          <p:nvPr/>
        </p:nvSpPr>
        <p:spPr>
          <a:xfrm>
            <a:off x="1200150" y="2209800"/>
            <a:ext cx="4381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Business category is selected during onboarding.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Uploaded logos can influence brand palette.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Manual color pickers let owners adjust without knowing hex codes.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CSS variables allow the UI to change consistently.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Dashboard guidance can adapt to business type.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09AB2-1C2C-452D-9181-E0727F85373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8DA99-7A7C-4286-A982-6F1C489D95A4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88046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60528F6-BDBD-467E-A255-2159B0043BB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business owner benefits from clarity, control, and faster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94431-89D5-42BF-ACAC-F539AB75F61C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makes daily business management less dependent on memory, notebooks, and scattered conversations.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548E3DD-2A2C-4E3E-A627-83E6EE5AFC5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5E4244-9278-41C6-81B5-3096777BECEC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Clarity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834AE-D169-46B3-9869-0E42338ED536}"/>
              </a:ext>
            </a:extLst>
          </p:cNvPr>
          <p:cNvSpPr>
            <a:spLocks noGrp="1"/>
          </p:cNvSpPr>
          <p:nvPr/>
        </p:nvSpPr>
        <p:spPr>
          <a:xfrm>
            <a:off x="2609850" y="20955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One dashboard for sales, stock, payments, credit, and performance.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9F5DB5-9255-4233-8ED2-4306B64E28A7}"/>
              </a:ext>
            </a:extLst>
          </p:cNvPr>
          <p:cNvSpPr>
            <a:spLocks noGrp="1"/>
          </p:cNvSpPr>
          <p:nvPr/>
        </p:nvSpPr>
        <p:spPr>
          <a:xfrm>
            <a:off x="6038850" y="180975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195B34-FBDC-453C-BBA1-C65E539921D4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0FDF3C-DBFC-4BA7-ADE6-E9C6EAF7699D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Permissions, audit logs, and business-scoped data reduce risk.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A6554B-73CA-4349-868D-EE0B8ED73134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8E285D-D8A4-4FC5-B356-7966D82144E1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Speed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33E4B-BA41-4FC7-BB57-E12DD1D49AA7}"/>
              </a:ext>
            </a:extLst>
          </p:cNvPr>
          <p:cNvSpPr>
            <a:spLocks noGrp="1"/>
          </p:cNvSpPr>
          <p:nvPr/>
        </p:nvSpPr>
        <p:spPr>
          <a:xfrm>
            <a:off x="260985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POS, restock, receipts, and reports reduce repeated manual work.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37BDBB-9D2A-4665-A9AF-10A5D87B6664}"/>
              </a:ext>
            </a:extLst>
          </p:cNvPr>
          <p:cNvSpPr>
            <a:spLocks noGrp="1"/>
          </p:cNvSpPr>
          <p:nvPr/>
        </p:nvSpPr>
        <p:spPr>
          <a:xfrm>
            <a:off x="6038850" y="342900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FD66F3-4033-4DAA-AC5E-09233C0A2C51}"/>
              </a:ext>
            </a:extLst>
          </p:cNvPr>
          <p:cNvSpPr>
            <a:spLocks noGrp="1"/>
          </p:cNvSpPr>
          <p:nvPr/>
        </p:nvSpPr>
        <p:spPr>
          <a:xfrm>
            <a:off x="6286500" y="3695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Confidence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79349-EC69-42C6-AA02-FADE56F2AD3D}"/>
              </a:ext>
            </a:extLst>
          </p:cNvPr>
          <p:cNvSpPr>
            <a:spLocks noGrp="1"/>
          </p:cNvSpPr>
          <p:nvPr/>
        </p:nvSpPr>
        <p:spPr>
          <a:xfrm>
            <a:off x="803910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Analytics and notifications show what needs attention.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0FD142-6919-4676-A773-0571802A767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6092AB-6935-4F46-8EF4-8B96407385BE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50888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049" y="514350"/>
            <a:ext cx="1029102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656B48-254C-4B2D-A01E-12F1F6EC3A2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3CEB8B-EE66-4B40-8495-8CF6CD8824E9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781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FF7E8"/>
                </a:solidFill>
              </a:defRPr>
            </a:pPr>
            <a:r>
              <a:rPr sz="1650" b="0">
                <a:solidFill>
                  <a:srgbClr val="DFF7E8"/>
                </a:solidFill>
              </a:rPr>
              <a:t>BizTrack already has a strong operating foundation. The next focus should be production readiness, payment gateway integration, stronger demos, and deployment discipline.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7B80E3-C86E-4E24-86DE-6448C72EB22E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287000" cy="1352550"/>
          </a:xfrm>
          <a:prstGeom prst="roundRect">
            <a:avLst>
              <a:gd name="adj" fmla="val 11268"/>
            </a:avLst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20784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01DE0-772C-44C8-A216-C532AD4D8D74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Connect real gateway APIs after demo checkout flows are approved.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Prepare clean seeded demo businesses for presentations.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Run full Herd PHP test suite before every shared push.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Finalize deployment environment, mail domain, storage, and backups.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A40D5-508E-411E-855C-B0E87A902BDD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5B942"/>
                </a:solidFill>
              </a:defRPr>
            </a:pPr>
            <a:r>
              <a:rPr sz="1800" b="1">
                <a:solidFill>
                  <a:srgbClr val="F5B942"/>
                </a:solidFill>
              </a:rPr>
              <a:t>BizTrack: one business workspace, many daily decisions made easier.</a:t>
            </a:r>
          </a:p>
        </p:txBody>
      </p:sp>
    </p:spTree>
    <p:extLst>
      <p:ext uri="{BB962C8B-B14F-4D97-AF65-F5344CB8AC3E}">
        <p14:creationId xmlns:p14="http://schemas.microsoft.com/office/powerpoint/2010/main" val="2776586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2781</Words>
  <Application>Microsoft Office PowerPoint</Application>
  <DocSecurity>0</DocSecurity>
  <PresentationFormat>Widescreen</PresentationFormat>
  <Paragraphs>348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Obsa Yohannes</cp:lastModifiedBy>
  <cp:revision>1</cp:revision>
  <dcterms:created xsi:type="dcterms:W3CDTF">2026-08-21T07:10:42Z</dcterms:created>
  <dcterms:modified xsi:type="dcterms:W3CDTF">2026-08-21T07:12:36Z</dcterms:modified>
</cp:coreProperties>
</file>