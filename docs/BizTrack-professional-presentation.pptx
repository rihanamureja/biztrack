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1946dc69f453e" /><Relationship Type="http://schemas.openxmlformats.org/officeDocument/2006/relationships/extended-properties" Target="/docProps/app.xml" Id="Ra4d810bea046491b" /><Relationship Type="http://schemas.openxmlformats.org/officeDocument/2006/relationships/officeDocument" Target="/ppt/presentation.xml" Id="Rc9727d3ea272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5f21641ee4afb"/>
  </p:sldMasterIdLst>
  <p:notesMasterIdLst>
    <p:notesMasterId xmlns:r="http://schemas.openxmlformats.org/officeDocument/2006/relationships" r:id="R32fe2b768131413f"/>
  </p:notesMasterIdLst>
  <p:sldIdLst>
    <p:sldId xmlns:r="http://schemas.openxmlformats.org/officeDocument/2006/relationships" id="256" r:id="Re4b2253c82424438"/>
    <p:sldId xmlns:r="http://schemas.openxmlformats.org/officeDocument/2006/relationships" id="257" r:id="R45667e031c6d474d"/>
    <p:sldId xmlns:r="http://schemas.openxmlformats.org/officeDocument/2006/relationships" id="258" r:id="R175c9b6d31e641e6"/>
    <p:sldId xmlns:r="http://schemas.openxmlformats.org/officeDocument/2006/relationships" id="259" r:id="Rfe92d2032dc548b2"/>
    <p:sldId xmlns:r="http://schemas.openxmlformats.org/officeDocument/2006/relationships" id="260" r:id="R54a25e2a3d6f4788"/>
    <p:sldId xmlns:r="http://schemas.openxmlformats.org/officeDocument/2006/relationships" id="261" r:id="Rfd1f4494c5784680"/>
    <p:sldId xmlns:r="http://schemas.openxmlformats.org/officeDocument/2006/relationships" id="262" r:id="R10487f6234a14f9a"/>
    <p:sldId xmlns:r="http://schemas.openxmlformats.org/officeDocument/2006/relationships" id="263" r:id="R7bb017c8683d4ba3"/>
    <p:sldId xmlns:r="http://schemas.openxmlformats.org/officeDocument/2006/relationships" id="264" r:id="Re4998f65b55948a1"/>
    <p:sldId xmlns:r="http://schemas.openxmlformats.org/officeDocument/2006/relationships" id="265" r:id="R20cb6a76141c44ae"/>
    <p:sldId xmlns:r="http://schemas.openxmlformats.org/officeDocument/2006/relationships" id="266" r:id="R9539b47c52e943c1"/>
    <p:sldId xmlns:r="http://schemas.openxmlformats.org/officeDocument/2006/relationships" id="267" r:id="R959b6842095f4201"/>
    <p:sldId xmlns:r="http://schemas.openxmlformats.org/officeDocument/2006/relationships" id="268" r:id="R56d0613a413947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b69e5374b444e" /><Relationship Type="http://schemas.openxmlformats.org/officeDocument/2006/relationships/slideMaster" Target="/ppt/slideMasters/slideMaster1.xml" Id="R6e75f21641ee4afb" /><Relationship Type="http://schemas.openxmlformats.org/officeDocument/2006/relationships/notesMaster" Target="/ppt/notesMasters/notesMaster1.xml" Id="R32fe2b768131413f" /><Relationship Type="http://schemas.openxmlformats.org/officeDocument/2006/relationships/presProps" Target="/ppt/presProps.xml" Id="Rd701accf68f840ea" /><Relationship Type="http://schemas.openxmlformats.org/officeDocument/2006/relationships/tableStyles" Target="/ppt/tableStyles.xml" Id="R9099966c8ff849ec" /><Relationship Type="http://schemas.openxmlformats.org/officeDocument/2006/relationships/slide" Target="/ppt/slides/slide1.xml" Id="Re4b2253c82424438" /><Relationship Type="http://schemas.openxmlformats.org/officeDocument/2006/relationships/slide" Target="/ppt/slides/slide2.xml" Id="R45667e031c6d474d" /><Relationship Type="http://schemas.openxmlformats.org/officeDocument/2006/relationships/slide" Target="/ppt/slides/slide3.xml" Id="R175c9b6d31e641e6" /><Relationship Type="http://schemas.openxmlformats.org/officeDocument/2006/relationships/slide" Target="/ppt/slides/slide4.xml" Id="Rfe92d2032dc548b2" /><Relationship Type="http://schemas.openxmlformats.org/officeDocument/2006/relationships/slide" Target="/ppt/slides/slide5.xml" Id="R54a25e2a3d6f4788" /><Relationship Type="http://schemas.openxmlformats.org/officeDocument/2006/relationships/slide" Target="/ppt/slides/slide6.xml" Id="Rfd1f4494c5784680" /><Relationship Type="http://schemas.openxmlformats.org/officeDocument/2006/relationships/slide" Target="/ppt/slides/slide7.xml" Id="R10487f6234a14f9a" /><Relationship Type="http://schemas.openxmlformats.org/officeDocument/2006/relationships/slide" Target="/ppt/slides/slide8.xml" Id="R7bb017c8683d4ba3" /><Relationship Type="http://schemas.openxmlformats.org/officeDocument/2006/relationships/slide" Target="/ppt/slides/slide9.xml" Id="Re4998f65b55948a1" /><Relationship Type="http://schemas.openxmlformats.org/officeDocument/2006/relationships/slide" Target="/ppt/slides/slide10.xml" Id="R20cb6a76141c44ae" /><Relationship Type="http://schemas.openxmlformats.org/officeDocument/2006/relationships/slide" Target="/ppt/slides/slide11.xml" Id="R9539b47c52e943c1" /><Relationship Type="http://schemas.openxmlformats.org/officeDocument/2006/relationships/slide" Target="/ppt/slides/slide12.xml" Id="R959b6842095f4201" /><Relationship Type="http://schemas.openxmlformats.org/officeDocument/2006/relationships/slide" Target="/ppt/slides/slide13.xml" Id="R56d0613a413947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22452b44a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98587bbd7c4cdc" /><Relationship Type="http://schemas.openxmlformats.org/officeDocument/2006/relationships/notesMaster" Target="/ppt/notesMasters/notesMaster1.xml" Id="R2fe58411acf647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61f61396454e3a" /><Relationship Type="http://schemas.openxmlformats.org/officeDocument/2006/relationships/notesMaster" Target="/ppt/notesMasters/notesMaster1.xml" Id="R0e0644c567b143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e20ea69fe64dc4" /><Relationship Type="http://schemas.openxmlformats.org/officeDocument/2006/relationships/notesMaster" Target="/ppt/notesMasters/notesMaster1.xml" Id="Rb5b40ebdf2e6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144466d64a4508" /><Relationship Type="http://schemas.openxmlformats.org/officeDocument/2006/relationships/notesMaster" Target="/ppt/notesMasters/notesMaster1.xml" Id="Rc2970198dba8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ca71d283264e48" /><Relationship Type="http://schemas.openxmlformats.org/officeDocument/2006/relationships/notesMaster" Target="/ppt/notesMasters/notesMaster1.xml" Id="R1419281a6e6e4e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2384d0525e49bd" /><Relationship Type="http://schemas.openxmlformats.org/officeDocument/2006/relationships/notesMaster" Target="/ppt/notesMasters/notesMaster1.xml" Id="R219a3cdea99c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d1e5d9f941472c" /><Relationship Type="http://schemas.openxmlformats.org/officeDocument/2006/relationships/notesMaster" Target="/ppt/notesMasters/notesMaster1.xml" Id="Rb3b7e4bbf34143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c6ce19ec1c43cd" /><Relationship Type="http://schemas.openxmlformats.org/officeDocument/2006/relationships/notesMaster" Target="/ppt/notesMasters/notesMaster1.xml" Id="R88b767b4ca4946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e2746e49be4286" /><Relationship Type="http://schemas.openxmlformats.org/officeDocument/2006/relationships/notesMaster" Target="/ppt/notesMasters/notesMaster1.xml" Id="R98a86c6eb5e340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95cf1064864ece" /><Relationship Type="http://schemas.openxmlformats.org/officeDocument/2006/relationships/notesMaster" Target="/ppt/notesMasters/notesMaster1.xml" Id="Rb984663999cf40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6b154a49cf4e80" /><Relationship Type="http://schemas.openxmlformats.org/officeDocument/2006/relationships/notesMaster" Target="/ppt/notesMasters/notesMaster1.xml" Id="R01acccec313344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7e954a7c8342b9" /><Relationship Type="http://schemas.openxmlformats.org/officeDocument/2006/relationships/notesMaster" Target="/ppt/notesMasters/notesMaster1.xml" Id="R4b466cb5a6454e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8217f861ff499b" /><Relationship Type="http://schemas.openxmlformats.org/officeDocument/2006/relationships/notesMaster" Target="/ppt/notesMasters/notesMaster1.xml" Id="Rf5e56942297346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BizTrack project scope, database table list, and implemented module phases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BizTrack system overview and implemented module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repository technology stack and installed Laravel/Inertia/React project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implemented subscription and platform service fee modules in BizTrack.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BizTrack RBAC design and implemented role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dynamic employee roles and permissions module and RBAC sidebar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BizTrack module phases: POS, inventory, customers, customer credit, expenses, reports, audit logging, and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implemented business verification review and resubmission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BizTrack subscription design and planned Ethiopian payment gateway integration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current database table list supplied for BizTrack.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the current BizTrack database table list. Table names are shown as implemented/planned database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implemented customer, sale, payment, customer credit, report, and notification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Prepared from BizTrack project status and planned commercialization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63177f64e4a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b1558735be497d" /><Relationship Type="http://schemas.openxmlformats.org/officeDocument/2006/relationships/slideLayout" Target="/ppt/slideLayouts/slideLayout1.xml" Id="R4a8e2fe1077d4e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e2fe1077d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59be26fc344ac" /><Relationship Type="http://schemas.openxmlformats.org/officeDocument/2006/relationships/image" Target="/ppt/media/image.png" Id="R6902d3c45df54d05" /><Relationship Type="http://schemas.openxmlformats.org/officeDocument/2006/relationships/image" Target="/ppt/media/image.jpeg" Id="Rb6e7f8c984834221" /><Relationship Type="http://schemas.openxmlformats.org/officeDocument/2006/relationships/notesSlide" Target="/ppt/notesSlides/notesSlide1.xml" Id="R4eb068e169ae41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9e2902f074146" /><Relationship Type="http://schemas.openxmlformats.org/officeDocument/2006/relationships/notesSlide" Target="/ppt/notesSlides/notesSlide2.xml" Id="R73cfc31ecfac41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b5a53bb214c26" /><Relationship Type="http://schemas.openxmlformats.org/officeDocument/2006/relationships/notesSlide" Target="/ppt/notesSlides/notesSlide3.xml" Id="Rdd8c3cec221a43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451404e34347" /><Relationship Type="http://schemas.openxmlformats.org/officeDocument/2006/relationships/notesSlide" Target="/ppt/notesSlides/notesSlide4.xml" Id="Rb4dcbbe798d14a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2141ebeb74107" /><Relationship Type="http://schemas.openxmlformats.org/officeDocument/2006/relationships/notesSlide" Target="/ppt/notesSlides/notesSlide5.xml" Id="R3a19bdd7a70b4c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93fd46bab4ee6" /><Relationship Type="http://schemas.openxmlformats.org/officeDocument/2006/relationships/notesSlide" Target="/ppt/notesSlides/notesSlide6.xml" Id="R00745998e2d542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abe7b2ded4de4" /><Relationship Type="http://schemas.openxmlformats.org/officeDocument/2006/relationships/notesSlide" Target="/ppt/notesSlides/notesSlide7.xml" Id="Rc0e56d882270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69b9aac7e4ff1" /><Relationship Type="http://schemas.openxmlformats.org/officeDocument/2006/relationships/notesSlide" Target="/ppt/notesSlides/notesSlide8.xml" Id="Reb9f420cf2114c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2e58e4b50472e" /><Relationship Type="http://schemas.openxmlformats.org/officeDocument/2006/relationships/notesSlide" Target="/ppt/notesSlides/notesSlide9.xml" Id="Rd6e787f08ce74b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ce974a60841eb" /><Relationship Type="http://schemas.openxmlformats.org/officeDocument/2006/relationships/notesSlide" Target="/ppt/notesSlides/notesSlide10.xml" Id="R517289a48f784e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ab173a5574754" /><Relationship Type="http://schemas.openxmlformats.org/officeDocument/2006/relationships/notesSlide" Target="/ppt/notesSlides/notesSlide11.xml" Id="R3dbf7c6b7a4340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96270d8f24cc8" /><Relationship Type="http://schemas.openxmlformats.org/officeDocument/2006/relationships/notesSlide" Target="/ppt/notesSlides/notesSlide12.xml" Id="Ra446db328edf46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4d57c13ca44c1" /><Relationship Type="http://schemas.openxmlformats.org/officeDocument/2006/relationships/image" Target="/ppt/media/image2.png" Id="R87beb332daf1449a" /><Relationship Type="http://schemas.openxmlformats.org/officeDocument/2006/relationships/image" Target="/ppt/media/image2.jpeg" Id="R6ff989c1b9374c38" /><Relationship Type="http://schemas.openxmlformats.org/officeDocument/2006/relationships/notesSlide" Target="/ppt/notesSlides/notesSlide13.xml" Id="Rf9fc4fb73fff4a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2d3c45df54d05"/>
          <a:srcRect xmlns:a="http://schemas.openxmlformats.org/drawingml/2006/main" l="27650" t="0" r="276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F8EC1-F814-4B2A-BEEF-FEFB5BD0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7f8c984834221"/>
          <a:stretch xmlns:a="http://schemas.openxmlformats.org/drawingml/2006/main"/>
        </p:blipFill>
        <p:spPr>
          <a:xfrm xmlns:a="http://schemas.openxmlformats.org/drawingml/2006/main">
            <a:off x="1266624" y="590550"/>
            <a:ext cx="1029102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BDD96-9C81-4DAE-AE0B-48FF8175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33"/>
                </a:solidFill>
              </a:defRPr>
            </a:pPr>
            <a:r>
              <a:rPr sz="4050" b="1">
                <a:solidFill>
                  <a:srgbClr val="102033"/>
                </a:solidFill>
              </a:rPr>
              <a:t>Smart business management for growing SMEs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DD12D-5FBC-46E1-9A40-E4DD6B07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29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A professional platform for owners to manage sales, products, inventory, employees, credits, payments, expenses, reports, subscriptions, and verification in one secure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6E883-5AE3-4899-9E0F-D4F17C21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343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411AB-BD52-458F-BDCC-64EA639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054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EC409-3EE3-4D12-9C37-8A0D291F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435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BizTrack domain 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647D4-937C-4CF8-BC1A-B002099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95875"/>
            <a:ext cx="2343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BBAEB-E554-45F5-B73E-ED8D38C7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054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</a:defRPr>
            </a:pPr>
            <a:r>
              <a:rPr sz="2325" b="1">
                <a:solidFill>
                  <a:srgbClr val="F59E0B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818EE-C713-4012-93AA-0F6B2760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435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Laravel/system tables</a:t>
            </a:r>
          </a:p>
        </p:txBody>
      </p:sp>
    </p:spTree>
    <p:extLst>
      <p:ext uri="{BB962C8B-B14F-4D97-AF65-F5344CB8AC3E}">
        <p14:creationId xmlns:p14="http://schemas.microsoft.com/office/powerpoint/2010/main" val="810832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9EC17-B478-4BA1-BFCD-E722D2A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B2F71-0D5E-4B26-99A7-EB027D1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BizTrack brings daily business operations into one controlled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B5481-3768-4AD3-BC2C-AD2313F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AEC6F-8608-46D8-80B2-F66E288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The platform replaces disconnected notebooks, spreadsheets, manual receipts, and informal employee controls with a verified, role-aware digital operating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BE2ED-AA43-4862-85FD-B607516D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25A8B-D486-4249-90D1-C9999D7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Owners see performance, cash movement, credit exposure, expenses, and stock health.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3A737-0774-4245-B8CC-249663F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7ED5D-BC79-4BDC-89C9-4CD28D6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Employees work only inside the permissions assigned by the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143A8-7B58-4BF9-9CF7-2B5FA0D1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5310F-B902-4CBB-B739-1632019F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Super admins protect platform quality through verification, subscriptions, and oversight.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783C2-D18E-4482-B1CA-EC26534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E93F5-47D0-42B3-A364-EAA756CF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Audit logs and notifications create traceability across sensitive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81B98-6FD7-4EF1-B9D3-918609A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95550" cy="37909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4AE78-82CA-46BF-85BB-EC6DBAB1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Core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A00AB-0183-4615-94FF-FFC75F7A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1885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Make small and medium businesses easier to run, easier to monitor, and safer to scale.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E9441-F25C-488B-A26D-B07A6D34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0946B-4144-461B-8D8D-911E628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7054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52385-1125-4BE5-AE7F-2844AB8A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2CE07-C7A7-42D0-8292-E51E60E0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The current framework is built for professional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0F9CC-2B20-4B5F-9A72-0F58F1A9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CD63C-C46B-4FA2-8B80-9E2FFFCF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9459E-1E7D-4DBD-BDDF-72A7AD80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Laravel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8E30B-F7DD-489A-ACB9-21302128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Backend structure, authentication, policies, middleware, migrations, queues, notifications,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4C7DE-97E3-47AE-9D39-A9DF83D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953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FBAB0-8D35-41DC-9CE5-B11D5740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Inertia + 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5637E-79A8-49A4-AACD-69A18821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Modern single-page user experience without separating the project into two disconnected apps.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811FE-DB6B-4ADE-98B1-D7CDC8E7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953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23ECD-AD8D-423E-A116-80022E6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9E0B"/>
                </a:solidFill>
              </a:defRPr>
            </a:pPr>
            <a:r>
              <a:rPr sz="2025" b="1">
                <a:solidFill>
                  <a:srgbClr val="F59E0B"/>
                </a:solidFill>
              </a:rPr>
              <a:t>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0850A-8057-45D5-AC56-AA93ABE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Relational database for business operations, transactions, permissions, and audit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F5131-95B2-496A-9524-4C320D84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4953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0D968-8684-45AB-83EC-BB518231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Tailwind CSS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B64D6-414F-418B-B2CB-212DABE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529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Consistent, custom product styling instead of default Laravel starter-kit visuals.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81339-A749-4932-8715-1102960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E3F92-B7AE-4523-B41B-FC64CCC8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94067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389A5-A459-4946-AD37-892F966D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2F636-B2EC-419B-88D0-4B8C263A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BizTrack earns from both access and platform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379B3-9217-40D1-9813-7750B278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C3FAC-7D00-466E-AAA4-23CFC8D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47434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F4578-5458-4CFE-9D0F-0874B48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Subscription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9E64-66A1-41C0-A668-B071282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6D4E6-3AFC-461F-BFD4-A95E46DE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Business owners choose an active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D9284-D286-4D50-93AA-7BC35AE1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09495-B856-4F1D-837B-15769A6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Plans can control limits such as employees, features, and reporting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DF520-558F-4E05-B693-8BDFD79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76CD1-370A-49CF-946D-F7CB6ABD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Inactive or expired subscriptions can block premium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DECF2-A8B3-45E5-BED5-4F81322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7434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4726E-1502-4DE9-97B5-12067FA4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</a:defRPr>
            </a:pPr>
            <a:r>
              <a:rPr sz="2325" b="1">
                <a:solidFill>
                  <a:srgbClr val="F59E0B"/>
                </a:solidFill>
              </a:rPr>
              <a:t>Service fee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02342-8206-4E33-A96A-1DA59B4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6421F-770E-40CA-8C38-654127C0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A configurable percentage is calculated from recorded payments.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CE308-FAD3-438D-B683-6D154695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A7326-5867-4A13-A2A7-E948E025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Owners can see how each fee was created and what is owed.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E762F-DCF2-4EC1-8498-7CB7AA95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EBD4D-D97F-45AC-B49A-5944576C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624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The percentage can be negotiated per business.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71EE4-4FA0-43DF-80DA-F6F59B7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40369-36A3-4336-B800-D9FBBE2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7054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B9D57-1FF1-47B2-A07B-C572EB7E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30416-C573-49B7-AED4-CA0D476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Three primary roles separate platform control from business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9D802-1042-42B1-B653-57CE9076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13F49-ED6F-437B-A197-70C488FB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FA3B8-FFB2-4D8C-ACBF-CD77D94E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0EA57-09F3-4D90-94D6-FF7A487A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52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Super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1DDF9-B351-4B73-BC0D-A8E3B47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907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Owns platform oversight: verification review, business status, subscriptions, service fees, users, and platform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CA082-DE5A-4456-9A46-EA687582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B5BBD-8558-4B75-ACCB-D059AC55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01377-6D18-47C6-9CE2-E46B94CB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051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Business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650E1-3897-4069-9334-E4A074C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433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Runs the business: profile, products, inventory, employees, sales, payments, expenses, reports, notifications, and settings.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06D45-E3AD-4849-A6BC-0B8B6009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79140-8847-40D3-8D83-F519F73B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529A9-D270-46F8-B141-1D6E5545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57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Employee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76FD4-31EB-474B-9D80-EBD9E784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958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Works inside owner-assigned permissions. The role name can be cashier, manager, inventory officer, or another custom role.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C1656-66CD-45C9-8E28-98CF693F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8EC22-5AF8-40FC-8D7F-9109DD8C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6276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167A9-E5D2-435B-BC95-D62BBF15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RBAC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295C5-FD37-49E4-8E76-6621051A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Permissions are fixed for platform safety and dynamic for business teams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5757B-82E1-4695-952E-08F4046F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A19A1-6E78-4506-A488-1773772B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768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50E80-F5D5-420E-B517-75E838B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Static platform guardrails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92748-63CD-4BAA-B444-BB011D29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E81A2-F1CA-4B28-A679-8B5EAA0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Super admin access is protected and cannot be casually reassigned.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8B410-96A6-4461-B3D2-188CBD9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4FEDE-C55D-4F1D-B380-2E9367D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Owner-only and employee-only routes are guarded by middleware and policies.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58F5E-3CEC-4B06-A8A4-5F1C9A2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83622-0456-48F4-B747-A8165373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05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Sensitive modules are separated by role-aware sidebar navigation.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E6AC0-5DF5-4B1F-B3A3-B299CFBE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8768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96AC7-755D-4611-9B7C-EF7DE56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E0B"/>
                </a:solidFill>
              </a:defRPr>
            </a:pPr>
            <a:r>
              <a:rPr sz="2175" b="1">
                <a:solidFill>
                  <a:srgbClr val="F59E0B"/>
                </a:solidFill>
              </a:rPr>
              <a:t>Dynamic business permissions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6086B-16EB-4F7B-8617-697A8E9E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16858-AFC6-4026-B3B4-F3556E9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Owners create employee roles with custom names.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BEADA-518D-4A96-9D55-17120D5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58503-527C-487C-A6FB-32CAFC1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Owners decide which modules each employee can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AA36F-FD0D-4B98-BF18-357147BB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0E959-E1E6-4E71-B21E-9E3F89D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05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The sidebar adapts so employees see only useful, allowed navigation.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90FB6-792B-4E9A-AF77-4F823386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46FF9-3EA4-429D-BEAC-51853145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7120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A578C-6EE6-4742-A6E9-0EFD464E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OWNER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11AAC-D725-47ED-80C9-8C472E9D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The owner gains control over money, people, stock,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C1AB5-282E-4F63-BBAE-D1932D63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D665A-92A3-4DCE-91E7-7EC404E2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09351-E6B0-46A4-AE28-13DB73AD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Sales and POS: record customer purchases, sale items, payments, and receipts.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03514-FBBF-4BEC-A3B6-EA4EFEF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5AEA9-6E14-463E-85FC-8BCE558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33625"/>
            <a:ext cx="933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Inventory: track stock movement, restocks, adjustments, low stock, and stagnant products.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D4AF6-907A-4EC3-AA24-9EDA0127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17B02-8A75-4F24-AEE2-7BC4F7E5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933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Customers and credit: manage customer records, unpaid balances, and repayment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6D818-A587-41B4-B55B-954B307D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D7E4C-EE79-4CE6-9683-3B9B4595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933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Expenses and reports: compare sales, payments, expenses, inventory value, and revenue trends.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E1B46-ED4C-49CB-B69C-A1F948F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24942-2105-4CAB-859C-6D8A44A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933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Security: verification, audit logs, strong passwords, temporary passwords, and role-based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BB290-940D-4DF5-B7F4-C76694A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2826B-439D-44BA-9F01-D306BB3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4658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6A637-2289-4EB1-9E41-3F6181E0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VERIFICATION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4C137-5E38-4555-9997-77390713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Business verification protects the platform before access is granted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C4955-5B65-4ED3-AF3C-3835C3E6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5B513-B71B-4617-B550-5A59BA8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E4083-2576-460A-84A6-5F65B1EE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145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6132A-3A31-4758-A0B9-E8D5DD16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71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Owner signs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14254-681F-4693-84C4-92995D4E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145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account is created, but full system access waits for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BF3B3-7422-4E03-9B7D-8FFB88EC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C6EB9-6080-481D-B141-FC5BD212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C5431-4E32-46D6-8D57-12D04B86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90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Documents submitted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B63FF-7213-464A-9009-0E6C2FC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33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National ID photo, FAN number, trade license, TIN, and dynamic VAT or rental documents.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79002-EC26-4548-89F3-B518475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8AA31-3ADC-4B4C-810A-B4051C30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145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B7CE2-78DE-42CF-9E86-A669E43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71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Super admin reviews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3159B-B93C-4F44-BBCE-C5C04CC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145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Documents can be approved, rejected with reason, or marked for resubmission.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3E099-986B-466E-A039-EF9F156A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9DD8E-3969-4435-B9CC-EAA9FF0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A526E-D20F-4ED4-ADD2-1D0D59F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Business activated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7D7ED-EB63-41D0-A2BA-35951BE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verified business can complete setup, select subscription, and use the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409D8-E9FD-495F-A4C6-AECCA52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B5DF7-E981-4E84-9E55-DE51840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9117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3A295-3FC3-488E-9C3E-82D1CBB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SUBSCRIPTION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40647-36F2-4A91-8FEE-97C1B6E3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Subscription controls whether a verified business can operate normally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E65AE-051E-4F56-87A9-86AC20A0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204DC-B54C-4AFA-9D90-43FAEB86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A962B-72DA-476C-8684-67F0967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657F1-7728-4D6E-8B71-8DA0E99B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Plan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9AF95-ADD6-47A8-827B-013A3D9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owner chooses an available plan based on business needs.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5D0E-914E-4800-B74E-065AA03C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A1AFA-9F81-4AB4-9EF0-37B91A5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2A130-FBBD-477F-806B-12DB87BE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Payment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BFF87-B8DA-4769-BD70-4082465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Payment gateway integration can later connect Chapa, Santim Pay, or Telebirr-backed providers.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7D581-0D6F-4338-A1CF-C68BD15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8BE3E-AF5A-4BBD-8FE2-E265F0FD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B94A1-C8AA-4E8E-BE53-8C171228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Activation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C23CC-BF20-4259-B7C6-B1BB8BE8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An active plan unlocks subscribed limits and protected modules.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1B421-55B9-49BD-996B-3C9D0F0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BE7BF-79DD-4A70-BCB6-7FE10C61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00784-B5CB-4B57-AB16-9107327B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Renewal or restriction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7ED89-FCAD-4D74-8FE4-7EBEC834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Expired or inactive plans can trigger notices, renewal flows, and access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55E0D-EE04-453C-94C8-CBDEF95F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F520F-7626-4B3B-B4AC-112D9D6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0853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CEF73-8DB8-4800-B9E8-F8E14A93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E10F1-0221-4BA7-B987-C6602340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The database separates BizTrack business data from Laravel system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ED08-40ED-418A-BD1B-79994F5E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3FD78-01CC-46B5-8FC1-06DD814A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343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1042F-CCB8-40C4-867B-4AD733B4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</a:defRPr>
            </a:pPr>
            <a:r>
              <a:rPr sz="2325" b="1">
                <a:solidFill>
                  <a:srgbClr val="102033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57BC6-1ED9-4DD3-AFFF-4F344692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Total database 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E900-AD6D-41DE-AB2A-9A69ABFD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2343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A90AF-8359-4C1D-B8AA-C1D1E564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05B3B-01BB-4E46-9FA2-D6A49A2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BizTrack application 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450DF-702F-4189-8CFC-649AB4C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343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58EA2-4A15-4F19-8CD1-2186A14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</a:defRPr>
            </a:pPr>
            <a:r>
              <a:rPr sz="2325" b="1">
                <a:solidFill>
                  <a:srgbClr val="F59E0B"/>
                </a:solidFill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1AA49-AA35-4547-9A80-65A4FCE4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Laravel/system tables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7BB10-82FC-4672-BBF4-6453D04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4394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F6569-6299-44DB-B174-04AEDAA9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BizTrack tables store business identity, products, inventory, customers, sales, payments, credits, expenses, reports, notifications, audit logs, verification, permissions, service fees, and product insights.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AC4A9-F8DC-4E76-B884-8B46C91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969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Laravel tables support framework operations such as sessions, password resets, passkeys, jobs, cache, failed jobs, batches, and migration history.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E90F8-8B62-4F46-A839-2DE61353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39D6F-ABE1-4A67-882C-02E89D74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2319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4BBF9-EA8E-440F-9C85-2EDC3D2B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BIZTRACK TABLES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6032B-8C69-48FD-8ABF-DB27FAC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The 27 BizTrack tables cover the real business 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3CB70-6F35-49EC-99EA-2CC1E83C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B1DB4-C71A-4796-913C-45DEA9D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49720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EEDE5-4557-4A82-B192-366385F5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Operational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2F735-BBF2-4A89-A77D-019C8DD0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4191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users, businesses, subscriptions, categories, products, inventory, inventory_transactions, customers, sales, sale_items, payments, customer_credits, expense_categories, expenses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8CC0C-6A54-4685-A163-3AF24C5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9720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457BC-166D-4550-970B-D188FDF6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9E0B"/>
                </a:solidFill>
              </a:defRPr>
            </a:pPr>
            <a:r>
              <a:rPr sz="2175" b="1">
                <a:solidFill>
                  <a:srgbClr val="F59E0B"/>
                </a:solidFill>
              </a:rPr>
              <a:t>Governance and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B1246-1275-446F-A7C5-AE3EF6A2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4191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reports, notifications, audit_logs, business_verification_documents, business_verification_reviews, business_permissions, business_roles, business_permission_business_role, security_questions, user_security_questions, service_fee_settings, service_fees, product_movement_insights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13B0A-F8DD-4A2E-A98A-D4DA4A0C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D073D-40FD-47AC-ACB2-271FD521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08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8FC39-3F56-411D-9603-ACFCE81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CUSTOMER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D4DA8-038E-4A04-B273-8998610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Customer logic connects sales, payments, credit, and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D1C83-5A44-4740-B9B5-708F761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76381-3A37-4E53-B4D7-80F594CB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9AA40-2DD8-495F-9FD7-FB815358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49D0F-5D69-47D2-9199-048F67C3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95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Customer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A6159-6564-4514-A0A3-8785C7A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business stores customer identity and contact information.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97D7C-3288-4288-B3B0-E923430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21253-02DD-48EC-8AF2-95B28A9C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C264B-D50A-4150-AC91-456761DE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71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Sale is recorded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EC938-9E29-4F77-97E2-80593D62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Items, quantities, prices, discounts, and totals are attached to the sale.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BE8CE-38AD-4849-8972-AEBE667E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FE953-6C43-4443-84E6-D1378340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38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4CDE8-713A-4E9C-AD32-5317AFA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Payment or credit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E7AE0-58B5-4F97-A4DA-1DE3F186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Full payment completes the sale; unpaid balance creates customer credit.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9158D-4476-4EB9-8B09-0572199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F8BC0-118B-488A-8B79-42020D8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14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83DB8-51D3-46A3-99B6-1D1418E8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Reports and reminders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E527E-AD82-4F0D-BF7D-6FAC56A0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Credit balances become visible in dashboards, reports, and notifications.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A4978-F847-4CB8-9FE6-A3238B8A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BizTrack Business Management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2E2F0-A7E8-4340-8B72-0FEC0C5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887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eb332daf1449a"/>
          <a:srcRect xmlns:a="http://schemas.openxmlformats.org/drawingml/2006/main" l="26653" t="0" r="26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86062-B2A2-4408-8D72-ADDCA2D3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89c1b9374c38"/>
          <a:stretch xmlns:a="http://schemas.openxmlformats.org/drawingml/2006/main"/>
        </p:blipFill>
        <p:spPr>
          <a:xfrm xmlns:a="http://schemas.openxmlformats.org/drawingml/2006/main">
            <a:off x="1266624" y="685800"/>
            <a:ext cx="1029102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18558-5E43-46C8-B04C-37F15966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BizTrack is ready to move from product build to market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98BBA-246E-4DD7-A69C-7C6EC668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Next priorities: real Ethiopian payment gateway integration, subscription enforcement, production deployment, security hardening, and onboarding support for early businesses.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2ACF7-43E5-4C7F-BEEF-D5BDED24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9F6E4"/>
                </a:solidFill>
              </a:defRPr>
            </a:pPr>
            <a:r>
              <a:rPr sz="1875" b="1">
                <a:solidFill>
                  <a:srgbClr val="99F6E4"/>
                </a:solidFill>
              </a:rPr>
              <a:t>A scalable foundation for verified business operations, recurring revenue, and data-driven owner decisions.</a:t>
            </a:r>
          </a:p>
        </p:txBody>
      </p:sp>
    </p:spTree>
    <p:extLst>
      <p:ext uri="{BB962C8B-B14F-4D97-AF65-F5344CB8AC3E}">
        <p14:creationId xmlns:p14="http://schemas.microsoft.com/office/powerpoint/2010/main" val="1640973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2026-07-31T19:23:55.6200000Z</dcterms:created>
  <dcterms:modified xsi:type="dcterms:W3CDTF">2026-07-31T19:23:55.6210000Z</dcterms:modified>
</coreProperties>
</file>