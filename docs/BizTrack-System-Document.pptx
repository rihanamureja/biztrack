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76" r:id="rId3"/>
    <p:sldId id="27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Illustrative view</c:v>
          </c:tx>
          <c:spPr>
            <a:solidFill>
              <a:srgbClr val="008C4A"/>
            </a:solidFill>
          </c:spPr>
          <c:invertIfNegative val="1"/>
          <c:cat>
            <c:strLit>
              <c:ptCount val="3"/>
              <c:pt idx="0">
                <c:v>Revenue</c:v>
              </c:pt>
              <c:pt idx="1">
                <c:v>Expense</c:v>
              </c:pt>
              <c:pt idx="2">
                <c:v>Net</c:v>
              </c:pt>
            </c:strLit>
          </c:cat>
          <c:val>
            <c:numLit>
              <c:formatCode>General</c:formatCode>
              <c:ptCount val="3"/>
              <c:pt idx="0">
                <c:v>80</c:v>
              </c:pt>
              <c:pt idx="1">
                <c:v>42</c:v>
              </c:pt>
              <c:pt idx="2">
                <c:v>38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1C5-421E-93EB-674C201CFF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Sales trend</c:v>
          </c:tx>
          <c:marker>
            <c:symbol val="none"/>
          </c:marker>
          <c:cat>
            <c:strLit>
              <c:ptCount val="5"/>
              <c:pt idx="0">
                <c:v>W1</c:v>
              </c:pt>
              <c:pt idx="1">
                <c:v>W2</c:v>
              </c:pt>
              <c:pt idx="2">
                <c:v>W3</c:v>
              </c:pt>
              <c:pt idx="3">
                <c:v>W4</c:v>
              </c:pt>
              <c:pt idx="4">
                <c:v>W5</c:v>
              </c:pt>
            </c:strLit>
          </c:cat>
          <c:val>
            <c:numLit>
              <c:formatCode>General</c:formatCode>
              <c:ptCount val="5"/>
              <c:pt idx="0">
                <c:v>18</c:v>
              </c:pt>
              <c:pt idx="1">
                <c:v>32</c:v>
              </c:pt>
              <c:pt idx="2">
                <c:v>26</c:v>
              </c:pt>
              <c:pt idx="3">
                <c:v>44</c:v>
              </c:pt>
              <c:pt idx="4">
                <c:v>58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010D-4ED0-AED7-E79E95F4271C}"/>
            </c:ext>
          </c:extLst>
        </c:ser>
        <c:ser>
          <c:idx val="1"/>
          <c:order val="1"/>
          <c:tx>
            <c:v>Product movement</c:v>
          </c:tx>
          <c:marker>
            <c:symbol val="none"/>
          </c:marker>
          <c:cat>
            <c:strLit>
              <c:ptCount val="5"/>
              <c:pt idx="0">
                <c:v>W1</c:v>
              </c:pt>
              <c:pt idx="1">
                <c:v>W2</c:v>
              </c:pt>
              <c:pt idx="2">
                <c:v>W3</c:v>
              </c:pt>
              <c:pt idx="3">
                <c:v>W4</c:v>
              </c:pt>
              <c:pt idx="4">
                <c:v>W5</c:v>
              </c:pt>
            </c:strLit>
          </c:cat>
          <c:val>
            <c:numLit>
              <c:formatCode>General</c:formatCode>
              <c:ptCount val="5"/>
              <c:pt idx="0">
                <c:v>14</c:v>
              </c:pt>
              <c:pt idx="1">
                <c:v>18</c:v>
              </c:pt>
              <c:pt idx="2">
                <c:v>25</c:v>
              </c:pt>
              <c:pt idx="3">
                <c:v>31</c:v>
              </c:pt>
              <c:pt idx="4">
                <c:v>42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010D-4ED0-AED7-E79E95F427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CE9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by positioning BizTrack as a complete operating system for business owners rather than a single sales or inventory tool.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explicitly states the operational problems BizTrack is built to solve.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gives the audience a direct before/after logic: scattered action becomes connected records.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four benefits as management outcomes, not just software features.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frame the pain before introducing modules.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Highlight the workflow logic: this is not a collection of separate pages.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Mention that business owners can define employee roles dynamically while platform roles remain protected.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Clarify the modern onboarding decision: identity and payment/trial drive access.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communicates the navigation philosophy and shows why modules are grouped.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product creation is kept clean while inventory carries pricing and batch data.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explain the recent split payment enhancement and why it matters.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core customer design: credit is not typed casually during creation; it grows from activity and owner decisions.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chart is an illustrative visual treatment showing revenue, expense, and net logic rather than audited business data.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reports as decision support. Trend values are illustrative visual examples.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Clarify the platform governance boundary.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that service fee was decommissioned and subscriptions are the main revenue mechanism.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gateway choice is represented structurally even before production API credentials are connected.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a database summary slide rather than listing every table one by one.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Position security as a cross-cutting design, not only a login page.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multi-tenant theming is about emotional ownership as well as brand consistency.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executive value slide. Keep it practical and owner-centered.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giving a concrete forward path.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rcRect t="34180" b="3418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2E34C01-0103-4EB2-B0D2-1619DBBC26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FFB">
              <a:alpha val="80000"/>
            </a:srgbClr>
          </a:solidFill>
          <a:ln w="0">
            <a:noFill/>
            <a:prstDash val="solid"/>
          </a:ln>
        </p:spPr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85613" y="514350"/>
            <a:ext cx="1086274" cy="723900"/>
          </a:xfrm>
          <a:prstGeom prst="roundRect">
            <a:avLst>
              <a:gd name="adj" fmla="val 10526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3C76AD8-17DA-46DB-97F1-EDBE6657BFC9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008C4A">
              <a:alpha val="9412"/>
            </a:srgbClr>
          </a:solidFill>
          <a:ln w="9525">
            <a:solidFill>
              <a:srgbClr val="008C4A">
                <a:alpha val="33333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2D4C0B-F3F4-4A47-9230-A45B79CACF56}"/>
              </a:ext>
            </a:extLst>
          </p:cNvPr>
          <p:cNvSpPr>
            <a:spLocks noGrp="1"/>
          </p:cNvSpPr>
          <p:nvPr/>
        </p:nvSpPr>
        <p:spPr>
          <a:xfrm>
            <a:off x="742950" y="1600200"/>
            <a:ext cx="1352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SYSTEM DOCUMENT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B09C95-6B8E-4D96-AAEF-0F851EF4FDBE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533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650" b="1">
                <a:solidFill>
                  <a:srgbClr val="092033"/>
                </a:solidFill>
              </a:defRPr>
            </a:pPr>
            <a:r>
              <a:rPr sz="4650" b="1">
                <a:solidFill>
                  <a:srgbClr val="092033"/>
                </a:solidFill>
              </a:rPr>
              <a:t>BizTrack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0D023A-E7A7-445A-A15F-69F52B5E70A6}"/>
              </a:ext>
            </a:extLst>
          </p:cNvPr>
          <p:cNvSpPr>
            <a:spLocks noGrp="1"/>
          </p:cNvSpPr>
          <p:nvPr/>
        </p:nvSpPr>
        <p:spPr>
          <a:xfrm>
            <a:off x="609600" y="2905125"/>
            <a:ext cx="723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8C4A"/>
                </a:solidFill>
              </a:defRPr>
            </a:pPr>
            <a:r>
              <a:rPr sz="2100" b="1">
                <a:solidFill>
                  <a:srgbClr val="008C4A"/>
                </a:solidFill>
              </a:rPr>
              <a:t>A Complete Internal Operations Management System for Businesses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BF968B-81BD-4162-B505-98F605D7EBDD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6858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3657A"/>
                </a:solidFill>
              </a:defRPr>
            </a:pPr>
            <a:r>
              <a:rPr sz="1575" b="0">
                <a:solidFill>
                  <a:srgbClr val="53657A"/>
                </a:solidFill>
              </a:rPr>
              <a:t>Designed to manage sales, inventory, payments, employees, customers, subscriptions, reporting, and business performance from one platform.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70B385-9B25-40CF-B003-942C1CC737BE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2857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008C4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74C92F-7609-4ED5-B243-D8B45BF99523}"/>
              </a:ext>
            </a:extLst>
          </p:cNvPr>
          <p:cNvSpPr>
            <a:spLocks noGrp="1"/>
          </p:cNvSpPr>
          <p:nvPr/>
        </p:nvSpPr>
        <p:spPr>
          <a:xfrm>
            <a:off x="8115300" y="232410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8C4A"/>
                </a:solidFill>
              </a:defRPr>
            </a:pPr>
            <a:r>
              <a:rPr sz="2100" b="1">
                <a:solidFill>
                  <a:srgbClr val="008C4A"/>
                </a:solidFill>
              </a:rPr>
              <a:t>18+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430D6D-6130-47EA-98EB-F233A10DFE63}"/>
              </a:ext>
            </a:extLst>
          </p:cNvPr>
          <p:cNvSpPr>
            <a:spLocks noGrp="1"/>
          </p:cNvSpPr>
          <p:nvPr/>
        </p:nvSpPr>
        <p:spPr>
          <a:xfrm>
            <a:off x="8115300" y="2733675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Integrated operating modules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3AFCA88-318B-434A-8F17-23C3F178D3FA}"/>
              </a:ext>
            </a:extLst>
          </p:cNvPr>
          <p:cNvSpPr>
            <a:spLocks noGrp="1"/>
          </p:cNvSpPr>
          <p:nvPr/>
        </p:nvSpPr>
        <p:spPr>
          <a:xfrm>
            <a:off x="7905750" y="3390900"/>
            <a:ext cx="2857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075985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7E5088-F6B7-4562-919C-9F37766E6121}"/>
              </a:ext>
            </a:extLst>
          </p:cNvPr>
          <p:cNvSpPr>
            <a:spLocks noGrp="1"/>
          </p:cNvSpPr>
          <p:nvPr/>
        </p:nvSpPr>
        <p:spPr>
          <a:xfrm>
            <a:off x="8115300" y="361950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75985"/>
                </a:solidFill>
              </a:defRPr>
            </a:pPr>
            <a:r>
              <a:rPr sz="2100" b="1">
                <a:solidFill>
                  <a:srgbClr val="075985"/>
                </a:solidFill>
              </a:rPr>
              <a:t>27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2690AC-6261-4AA8-BDAA-4BC85E9D512F}"/>
              </a:ext>
            </a:extLst>
          </p:cNvPr>
          <p:cNvSpPr>
            <a:spLocks noGrp="1"/>
          </p:cNvSpPr>
          <p:nvPr/>
        </p:nvSpPr>
        <p:spPr>
          <a:xfrm>
            <a:off x="8115300" y="4029075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Domain database tables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6AE9871-6119-4E00-B237-22061714E5DE}"/>
              </a:ext>
            </a:extLst>
          </p:cNvPr>
          <p:cNvSpPr>
            <a:spLocks noGrp="1"/>
          </p:cNvSpPr>
          <p:nvPr/>
        </p:nvSpPr>
        <p:spPr>
          <a:xfrm>
            <a:off x="7905750" y="4686300"/>
            <a:ext cx="2857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B4235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CC2AF7-93E7-44D2-ABE0-E9B829FBFC56}"/>
              </a:ext>
            </a:extLst>
          </p:cNvPr>
          <p:cNvSpPr>
            <a:spLocks noGrp="1"/>
          </p:cNvSpPr>
          <p:nvPr/>
        </p:nvSpPr>
        <p:spPr>
          <a:xfrm>
            <a:off x="8115300" y="491490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4235A"/>
                </a:solidFill>
              </a:defRPr>
            </a:pPr>
            <a:r>
              <a:rPr sz="2100" b="1">
                <a:solidFill>
                  <a:srgbClr val="B4235A"/>
                </a:solidFill>
              </a:rPr>
              <a:t>3+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38D148-2694-4D1E-8D22-46215C2F1834}"/>
              </a:ext>
            </a:extLst>
          </p:cNvPr>
          <p:cNvSpPr>
            <a:spLocks noGrp="1"/>
          </p:cNvSpPr>
          <p:nvPr/>
        </p:nvSpPr>
        <p:spPr>
          <a:xfrm>
            <a:off x="8115300" y="5324475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Built-in platform roles</a:t>
            </a:r>
          </a:p>
        </p:txBody>
      </p:sp>
    </p:spTree>
    <p:extLst>
      <p:ext uri="{BB962C8B-B14F-4D97-AF65-F5344CB8AC3E}">
        <p14:creationId xmlns:p14="http://schemas.microsoft.com/office/powerpoint/2010/main" val="946612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D62B796-5E9A-43DB-B2C6-C33C7FC5940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Many businesses lose control because daily work is scattered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91D580-27FE-4E3A-BFF3-210E399B38C7}"/>
              </a:ext>
            </a:extLst>
          </p:cNvPr>
          <p:cNvSpPr>
            <a:spLocks noGrp="1"/>
          </p:cNvSpPr>
          <p:nvPr/>
        </p:nvSpPr>
        <p:spPr>
          <a:xfrm>
            <a:off x="698091" y="1433359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Owners usually do not lack effort; they lack one connected place where sales, stock, money, people, and decisions meet.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01126" y="457200"/>
            <a:ext cx="828999" cy="552450"/>
          </a:xfrm>
          <a:prstGeom prst="roundRect">
            <a:avLst>
              <a:gd name="adj" fmla="val 13793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44C4262-E9EE-4B46-8194-31A553CD1A41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3143250" cy="1257300"/>
          </a:xfrm>
          <a:prstGeom prst="roundRect">
            <a:avLst>
              <a:gd name="adj" fmla="val 12121"/>
            </a:avLst>
          </a:prstGeom>
          <a:solidFill>
            <a:srgbClr val="B4235A">
              <a:alpha val="7059"/>
            </a:srgbClr>
          </a:solidFill>
          <a:ln w="9525">
            <a:solidFill>
              <a:srgbClr val="B4235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AB67A9-6B94-40B4-9EE1-9403B9415DB4}"/>
              </a:ext>
            </a:extLst>
          </p:cNvPr>
          <p:cNvSpPr>
            <a:spLocks noGrp="1"/>
          </p:cNvSpPr>
          <p:nvPr/>
        </p:nvSpPr>
        <p:spPr>
          <a:xfrm>
            <a:off x="819150" y="20193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B4235A"/>
                </a:solidFill>
              </a:defRPr>
            </a:pPr>
            <a:r>
              <a:rPr sz="1575" b="1">
                <a:solidFill>
                  <a:srgbClr val="B4235A"/>
                </a:solidFill>
              </a:rPr>
              <a:t>Sales and stock are disconnected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47A8A4-E153-4C21-91A1-EC8309CD2362}"/>
              </a:ext>
            </a:extLst>
          </p:cNvPr>
          <p:cNvSpPr>
            <a:spLocks noGrp="1"/>
          </p:cNvSpPr>
          <p:nvPr/>
        </p:nvSpPr>
        <p:spPr>
          <a:xfrm>
            <a:off x="819150" y="2514600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92033"/>
                </a:solidFill>
              </a:defRPr>
            </a:pPr>
            <a:r>
              <a:rPr sz="1125" b="0" dirty="0">
                <a:solidFill>
                  <a:srgbClr val="092033"/>
                </a:solidFill>
              </a:rPr>
              <a:t>A product can be sold without the owner seeing the stock impact immediately.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821566-2486-45C5-8151-E38BB1398704}"/>
              </a:ext>
            </a:extLst>
          </p:cNvPr>
          <p:cNvSpPr>
            <a:spLocks noGrp="1"/>
          </p:cNvSpPr>
          <p:nvPr/>
        </p:nvSpPr>
        <p:spPr>
          <a:xfrm>
            <a:off x="4229100" y="1790700"/>
            <a:ext cx="3143250" cy="1257300"/>
          </a:xfrm>
          <a:prstGeom prst="roundRect">
            <a:avLst>
              <a:gd name="adj" fmla="val 12121"/>
            </a:avLst>
          </a:prstGeom>
          <a:solidFill>
            <a:srgbClr val="F5B942">
              <a:alpha val="7059"/>
            </a:srgbClr>
          </a:solidFill>
          <a:ln w="9525">
            <a:solidFill>
              <a:srgbClr val="F5B942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61CD8F-5A9D-4275-848B-44FA0A765648}"/>
              </a:ext>
            </a:extLst>
          </p:cNvPr>
          <p:cNvSpPr>
            <a:spLocks noGrp="1"/>
          </p:cNvSpPr>
          <p:nvPr/>
        </p:nvSpPr>
        <p:spPr>
          <a:xfrm>
            <a:off x="4438650" y="20193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F5B942"/>
                </a:solidFill>
              </a:defRPr>
            </a:pPr>
            <a:r>
              <a:rPr sz="1575" b="1">
                <a:solidFill>
                  <a:srgbClr val="F5B942"/>
                </a:solidFill>
              </a:rPr>
              <a:t>Customer credit becomes risky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FA8A43-920F-44CF-ADB5-BD149C1D57EA}"/>
              </a:ext>
            </a:extLst>
          </p:cNvPr>
          <p:cNvSpPr>
            <a:spLocks noGrp="1"/>
          </p:cNvSpPr>
          <p:nvPr/>
        </p:nvSpPr>
        <p:spPr>
          <a:xfrm>
            <a:off x="4448175" y="2481109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92033"/>
                </a:solidFill>
              </a:defRPr>
            </a:pPr>
            <a:r>
              <a:rPr sz="1125" b="0" dirty="0">
                <a:solidFill>
                  <a:srgbClr val="092033"/>
                </a:solidFill>
              </a:rPr>
              <a:t>Manual credit records make it hard to know who owes money and how much is still safe to allow.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2A89BEC-6BC5-40FD-A393-4051868D91DD}"/>
              </a:ext>
            </a:extLst>
          </p:cNvPr>
          <p:cNvSpPr>
            <a:spLocks noGrp="1"/>
          </p:cNvSpPr>
          <p:nvPr/>
        </p:nvSpPr>
        <p:spPr>
          <a:xfrm>
            <a:off x="7848600" y="1790700"/>
            <a:ext cx="3143250" cy="1257300"/>
          </a:xfrm>
          <a:prstGeom prst="roundRect">
            <a:avLst>
              <a:gd name="adj" fmla="val 12121"/>
            </a:avLst>
          </a:prstGeom>
          <a:solidFill>
            <a:srgbClr val="075985">
              <a:alpha val="7059"/>
            </a:srgbClr>
          </a:solidFill>
          <a:ln w="9525">
            <a:solidFill>
              <a:srgbClr val="075985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8282AA-77D1-4347-9290-6AE8B8A6ABFA}"/>
              </a:ext>
            </a:extLst>
          </p:cNvPr>
          <p:cNvSpPr>
            <a:spLocks noGrp="1"/>
          </p:cNvSpPr>
          <p:nvPr/>
        </p:nvSpPr>
        <p:spPr>
          <a:xfrm>
            <a:off x="8058150" y="20193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75985"/>
                </a:solidFill>
              </a:defRPr>
            </a:pPr>
            <a:r>
              <a:rPr sz="1575" b="1">
                <a:solidFill>
                  <a:srgbClr val="075985"/>
                </a:solidFill>
              </a:rPr>
              <a:t>Employee access is unclear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31890A-7DFC-4795-B793-1D6CB454FDBE}"/>
              </a:ext>
            </a:extLst>
          </p:cNvPr>
          <p:cNvSpPr>
            <a:spLocks noGrp="1"/>
          </p:cNvSpPr>
          <p:nvPr/>
        </p:nvSpPr>
        <p:spPr>
          <a:xfrm>
            <a:off x="8058150" y="2400300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92033"/>
                </a:solidFill>
              </a:defRPr>
            </a:pPr>
            <a:r>
              <a:rPr sz="1125" b="0" dirty="0">
                <a:solidFill>
                  <a:srgbClr val="092033"/>
                </a:solidFill>
              </a:rPr>
              <a:t>Cashiers, managers, and staff may receive too much access or the wrong access.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6E382AC-6FAA-429B-A6EF-6968CD3C2B4A}"/>
              </a:ext>
            </a:extLst>
          </p:cNvPr>
          <p:cNvSpPr>
            <a:spLocks noGrp="1"/>
          </p:cNvSpPr>
          <p:nvPr/>
        </p:nvSpPr>
        <p:spPr>
          <a:xfrm>
            <a:off x="2381250" y="4000500"/>
            <a:ext cx="3143250" cy="1257300"/>
          </a:xfrm>
          <a:prstGeom prst="roundRect">
            <a:avLst>
              <a:gd name="adj" fmla="val 12121"/>
            </a:avLst>
          </a:prstGeom>
          <a:solidFill>
            <a:srgbClr val="008C4A">
              <a:alpha val="7059"/>
            </a:srgbClr>
          </a:solidFill>
          <a:ln w="9525">
            <a:solidFill>
              <a:srgbClr val="008C4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C68B07-5953-46F7-B0B7-574B95EF4220}"/>
              </a:ext>
            </a:extLst>
          </p:cNvPr>
          <p:cNvSpPr>
            <a:spLocks noGrp="1"/>
          </p:cNvSpPr>
          <p:nvPr/>
        </p:nvSpPr>
        <p:spPr>
          <a:xfrm>
            <a:off x="2590800" y="42291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8C4A"/>
                </a:solidFill>
              </a:defRPr>
            </a:pPr>
            <a:r>
              <a:rPr sz="1575" b="1">
                <a:solidFill>
                  <a:srgbClr val="008C4A"/>
                </a:solidFill>
              </a:rPr>
              <a:t>Payments and receipts lack traceability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BE082F-3CBC-4873-81DC-9C0561C7A0B7}"/>
              </a:ext>
            </a:extLst>
          </p:cNvPr>
          <p:cNvSpPr>
            <a:spLocks noGrp="1"/>
          </p:cNvSpPr>
          <p:nvPr/>
        </p:nvSpPr>
        <p:spPr>
          <a:xfrm>
            <a:off x="2590800" y="4700741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92033"/>
                </a:solidFill>
              </a:defRPr>
            </a:pPr>
            <a:r>
              <a:rPr sz="1125" b="0" dirty="0">
                <a:solidFill>
                  <a:srgbClr val="092033"/>
                </a:solidFill>
              </a:rPr>
              <a:t>Cash, mobile money, and credit payments are difficult to audit when records are separated.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2FFC31C-CDB5-44D2-839B-53BA7892BD9A}"/>
              </a:ext>
            </a:extLst>
          </p:cNvPr>
          <p:cNvSpPr>
            <a:spLocks noGrp="1"/>
          </p:cNvSpPr>
          <p:nvPr/>
        </p:nvSpPr>
        <p:spPr>
          <a:xfrm>
            <a:off x="6096000" y="4000500"/>
            <a:ext cx="3143250" cy="1257300"/>
          </a:xfrm>
          <a:prstGeom prst="roundRect">
            <a:avLst>
              <a:gd name="adj" fmla="val 12121"/>
            </a:avLst>
          </a:prstGeom>
          <a:solidFill>
            <a:srgbClr val="0F766E">
              <a:alpha val="7059"/>
            </a:srgbClr>
          </a:solidFill>
          <a:ln w="9525">
            <a:solidFill>
              <a:srgbClr val="0F766E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78E14C-C0C9-4D02-8DF1-149E2FD3818B}"/>
              </a:ext>
            </a:extLst>
          </p:cNvPr>
          <p:cNvSpPr>
            <a:spLocks noGrp="1"/>
          </p:cNvSpPr>
          <p:nvPr/>
        </p:nvSpPr>
        <p:spPr>
          <a:xfrm>
            <a:off x="6305550" y="42291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Reports arrive too late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7C91A9-9834-4EB3-B5F7-94F610295ECE}"/>
              </a:ext>
            </a:extLst>
          </p:cNvPr>
          <p:cNvSpPr>
            <a:spLocks noGrp="1"/>
          </p:cNvSpPr>
          <p:nvPr/>
        </p:nvSpPr>
        <p:spPr>
          <a:xfrm>
            <a:off x="6305550" y="4610100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92033"/>
                </a:solidFill>
              </a:defRPr>
            </a:pPr>
            <a:r>
              <a:rPr sz="1125" b="0">
                <a:solidFill>
                  <a:srgbClr val="092033"/>
                </a:solidFill>
              </a:rPr>
              <a:t>Owners make decisions after the problem has already affected cash flow or stock.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D0EA13-ECDC-4F3B-9E59-BB21762C875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B3B5DE-DD35-458F-9F3D-AEC9B970D4D5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05484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115D0FB-D121-4176-8534-E68A295CAC86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BizTrack fixes the problem by connecting every daily action to the next record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B5AE05-34BA-4745-9EB3-C6D5C86E7ACC}"/>
              </a:ext>
            </a:extLst>
          </p:cNvPr>
          <p:cNvSpPr>
            <a:spLocks noGrp="1"/>
          </p:cNvSpPr>
          <p:nvPr/>
        </p:nvSpPr>
        <p:spPr>
          <a:xfrm>
            <a:off x="762000" y="1558413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Instead of forcing owners to check many places, the system turns daily work into one controlled operating flow.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01126" y="457200"/>
            <a:ext cx="828999" cy="552450"/>
          </a:xfrm>
          <a:prstGeom prst="roundRect">
            <a:avLst>
              <a:gd name="adj" fmla="val 13793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DE4AD0C-6DC2-46A4-883E-D1AA2174A42A}"/>
              </a:ext>
            </a:extLst>
          </p:cNvPr>
          <p:cNvSpPr>
            <a:spLocks noGrp="1"/>
          </p:cNvSpPr>
          <p:nvPr/>
        </p:nvSpPr>
        <p:spPr>
          <a:xfrm>
            <a:off x="857250" y="2152650"/>
            <a:ext cx="1638300" cy="1619250"/>
          </a:xfrm>
          <a:prstGeom prst="roundRect">
            <a:avLst>
              <a:gd name="adj" fmla="val 9412"/>
            </a:avLst>
          </a:prstGeom>
          <a:solidFill>
            <a:srgbClr val="075985">
              <a:alpha val="7843"/>
            </a:srgbClr>
          </a:solidFill>
          <a:ln w="9525">
            <a:solidFill>
              <a:srgbClr val="075985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E57BDB-A1AC-4C38-BD75-CA98D449AD4A}"/>
              </a:ext>
            </a:extLst>
          </p:cNvPr>
          <p:cNvSpPr>
            <a:spLocks noGrp="1"/>
          </p:cNvSpPr>
          <p:nvPr/>
        </p:nvSpPr>
        <p:spPr>
          <a:xfrm>
            <a:off x="1047750" y="23812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75985"/>
                </a:solidFill>
              </a:defRPr>
            </a:pPr>
            <a:r>
              <a:rPr sz="1950" b="1">
                <a:solidFill>
                  <a:srgbClr val="075985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8C9D03-856F-4D25-8C55-7E9308209C24}"/>
              </a:ext>
            </a:extLst>
          </p:cNvPr>
          <p:cNvSpPr>
            <a:spLocks noGrp="1"/>
          </p:cNvSpPr>
          <p:nvPr/>
        </p:nvSpPr>
        <p:spPr>
          <a:xfrm>
            <a:off x="1047750" y="28575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92033"/>
                </a:solidFill>
              </a:defRPr>
            </a:pPr>
            <a:r>
              <a:rPr sz="1725" b="1">
                <a:solidFill>
                  <a:srgbClr val="092033"/>
                </a:solidFill>
              </a:rPr>
              <a:t>Sell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F319B7-D041-41E8-B95E-1049A47CD840}"/>
              </a:ext>
            </a:extLst>
          </p:cNvPr>
          <p:cNvSpPr>
            <a:spLocks noGrp="1"/>
          </p:cNvSpPr>
          <p:nvPr/>
        </p:nvSpPr>
        <p:spPr>
          <a:xfrm>
            <a:off x="1047750" y="3257550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3657A"/>
                </a:solidFill>
              </a:defRPr>
            </a:pPr>
            <a:r>
              <a:rPr sz="1050" b="0">
                <a:solidFill>
                  <a:srgbClr val="53657A"/>
                </a:solidFill>
              </a:rPr>
              <a:t>POS sale is created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29ACA2-74C7-4914-8173-F611F75A415A}"/>
              </a:ext>
            </a:extLst>
          </p:cNvPr>
          <p:cNvSpPr>
            <a:spLocks noGrp="1"/>
          </p:cNvSpPr>
          <p:nvPr/>
        </p:nvSpPr>
        <p:spPr>
          <a:xfrm>
            <a:off x="2581275" y="27432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EAEF25F-215A-4772-938F-CAE3639B9F42}"/>
              </a:ext>
            </a:extLst>
          </p:cNvPr>
          <p:cNvSpPr>
            <a:spLocks noGrp="1"/>
          </p:cNvSpPr>
          <p:nvPr/>
        </p:nvSpPr>
        <p:spPr>
          <a:xfrm>
            <a:off x="2952750" y="2152650"/>
            <a:ext cx="1638300" cy="1619250"/>
          </a:xfrm>
          <a:prstGeom prst="roundRect">
            <a:avLst>
              <a:gd name="adj" fmla="val 9412"/>
            </a:avLst>
          </a:prstGeom>
          <a:solidFill>
            <a:srgbClr val="008C4A">
              <a:alpha val="7843"/>
            </a:srgbClr>
          </a:solidFill>
          <a:ln w="9525">
            <a:solidFill>
              <a:srgbClr val="008C4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95290F-5B9C-47D5-9E36-B09F6FA2B5B9}"/>
              </a:ext>
            </a:extLst>
          </p:cNvPr>
          <p:cNvSpPr>
            <a:spLocks noGrp="1"/>
          </p:cNvSpPr>
          <p:nvPr/>
        </p:nvSpPr>
        <p:spPr>
          <a:xfrm>
            <a:off x="3143250" y="23812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8C4A"/>
                </a:solidFill>
              </a:defRPr>
            </a:pPr>
            <a:r>
              <a:rPr sz="1950" b="1">
                <a:solidFill>
                  <a:srgbClr val="008C4A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11E1F0-6ED8-42BB-B66A-B42081330FEF}"/>
              </a:ext>
            </a:extLst>
          </p:cNvPr>
          <p:cNvSpPr>
            <a:spLocks noGrp="1"/>
          </p:cNvSpPr>
          <p:nvPr/>
        </p:nvSpPr>
        <p:spPr>
          <a:xfrm>
            <a:off x="3143250" y="28575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92033"/>
                </a:solidFill>
              </a:defRPr>
            </a:pPr>
            <a:r>
              <a:rPr sz="1725" b="1">
                <a:solidFill>
                  <a:srgbClr val="092033"/>
                </a:solidFill>
              </a:rPr>
              <a:t>Update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F78EAE-2534-4C1F-9451-364968BAD474}"/>
              </a:ext>
            </a:extLst>
          </p:cNvPr>
          <p:cNvSpPr>
            <a:spLocks noGrp="1"/>
          </p:cNvSpPr>
          <p:nvPr/>
        </p:nvSpPr>
        <p:spPr>
          <a:xfrm>
            <a:off x="3143250" y="3257550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3657A"/>
                </a:solidFill>
              </a:defRPr>
            </a:pPr>
            <a:r>
              <a:rPr sz="1050" b="0">
                <a:solidFill>
                  <a:srgbClr val="53657A"/>
                </a:solidFill>
              </a:rPr>
              <a:t>Stock is reduced FIFO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EEA0FF-CAF4-4838-858C-8C164C540BF5}"/>
              </a:ext>
            </a:extLst>
          </p:cNvPr>
          <p:cNvSpPr>
            <a:spLocks noGrp="1"/>
          </p:cNvSpPr>
          <p:nvPr/>
        </p:nvSpPr>
        <p:spPr>
          <a:xfrm>
            <a:off x="4676775" y="27432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91A805F-5D99-4741-8083-EC7A096A8CD4}"/>
              </a:ext>
            </a:extLst>
          </p:cNvPr>
          <p:cNvSpPr>
            <a:spLocks noGrp="1"/>
          </p:cNvSpPr>
          <p:nvPr/>
        </p:nvSpPr>
        <p:spPr>
          <a:xfrm>
            <a:off x="5048250" y="2152650"/>
            <a:ext cx="1638300" cy="1619250"/>
          </a:xfrm>
          <a:prstGeom prst="roundRect">
            <a:avLst>
              <a:gd name="adj" fmla="val 9412"/>
            </a:avLst>
          </a:prstGeom>
          <a:solidFill>
            <a:srgbClr val="B4235A">
              <a:alpha val="7843"/>
            </a:srgbClr>
          </a:solidFill>
          <a:ln w="9525">
            <a:solidFill>
              <a:srgbClr val="B4235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9DE7B9-EDA3-4179-996A-EFF477053172}"/>
              </a:ext>
            </a:extLst>
          </p:cNvPr>
          <p:cNvSpPr>
            <a:spLocks noGrp="1"/>
          </p:cNvSpPr>
          <p:nvPr/>
        </p:nvSpPr>
        <p:spPr>
          <a:xfrm>
            <a:off x="5238750" y="23812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B4235A"/>
                </a:solidFill>
              </a:defRPr>
            </a:pPr>
            <a:r>
              <a:rPr sz="1950" b="1">
                <a:solidFill>
                  <a:srgbClr val="B4235A"/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04C8EE-8E79-4305-98AC-F1F506D92A7B}"/>
              </a:ext>
            </a:extLst>
          </p:cNvPr>
          <p:cNvSpPr>
            <a:spLocks noGrp="1"/>
          </p:cNvSpPr>
          <p:nvPr/>
        </p:nvSpPr>
        <p:spPr>
          <a:xfrm>
            <a:off x="5238750" y="28575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92033"/>
                </a:solidFill>
              </a:defRPr>
            </a:pPr>
            <a:r>
              <a:rPr sz="1725" b="1">
                <a:solidFill>
                  <a:srgbClr val="092033"/>
                </a:solidFill>
              </a:rPr>
              <a:t>Collect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5304A9-B3A3-45C4-8ECE-04A6B4E22656}"/>
              </a:ext>
            </a:extLst>
          </p:cNvPr>
          <p:cNvSpPr>
            <a:spLocks noGrp="1"/>
          </p:cNvSpPr>
          <p:nvPr/>
        </p:nvSpPr>
        <p:spPr>
          <a:xfrm>
            <a:off x="5238750" y="3257550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3657A"/>
                </a:solidFill>
              </a:defRPr>
            </a:pPr>
            <a:r>
              <a:rPr sz="1050" b="0">
                <a:solidFill>
                  <a:srgbClr val="53657A"/>
                </a:solidFill>
              </a:rPr>
              <a:t>Cash, wallet, account, or credit is recorded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F9F889-E070-4DA8-BCC1-9605D681D6EF}"/>
              </a:ext>
            </a:extLst>
          </p:cNvPr>
          <p:cNvSpPr>
            <a:spLocks noGrp="1"/>
          </p:cNvSpPr>
          <p:nvPr/>
        </p:nvSpPr>
        <p:spPr>
          <a:xfrm>
            <a:off x="6772275" y="27432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342BED-D2AD-43CA-8CBE-C6BBD075B515}"/>
              </a:ext>
            </a:extLst>
          </p:cNvPr>
          <p:cNvSpPr>
            <a:spLocks noGrp="1"/>
          </p:cNvSpPr>
          <p:nvPr/>
        </p:nvSpPr>
        <p:spPr>
          <a:xfrm>
            <a:off x="7143750" y="2152650"/>
            <a:ext cx="1638300" cy="1619250"/>
          </a:xfrm>
          <a:prstGeom prst="roundRect">
            <a:avLst>
              <a:gd name="adj" fmla="val 9412"/>
            </a:avLst>
          </a:prstGeom>
          <a:solidFill>
            <a:srgbClr val="0F766E">
              <a:alpha val="7843"/>
            </a:srgbClr>
          </a:solidFill>
          <a:ln w="9525">
            <a:solidFill>
              <a:srgbClr val="0F766E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76AD1D-2937-48B5-8980-6354FE76F096}"/>
              </a:ext>
            </a:extLst>
          </p:cNvPr>
          <p:cNvSpPr>
            <a:spLocks noGrp="1"/>
          </p:cNvSpPr>
          <p:nvPr/>
        </p:nvSpPr>
        <p:spPr>
          <a:xfrm>
            <a:off x="7334250" y="23812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D9DA1C-FAF4-4397-8E39-D14CF4F9A9AD}"/>
              </a:ext>
            </a:extLst>
          </p:cNvPr>
          <p:cNvSpPr>
            <a:spLocks noGrp="1"/>
          </p:cNvSpPr>
          <p:nvPr/>
        </p:nvSpPr>
        <p:spPr>
          <a:xfrm>
            <a:off x="7334250" y="28575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92033"/>
                </a:solidFill>
              </a:defRPr>
            </a:pPr>
            <a:r>
              <a:rPr sz="1725" b="1">
                <a:solidFill>
                  <a:srgbClr val="092033"/>
                </a:solidFill>
              </a:rPr>
              <a:t>Trace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8D0C07-3922-4248-BF55-823646AC3B8A}"/>
              </a:ext>
            </a:extLst>
          </p:cNvPr>
          <p:cNvSpPr>
            <a:spLocks noGrp="1"/>
          </p:cNvSpPr>
          <p:nvPr/>
        </p:nvSpPr>
        <p:spPr>
          <a:xfrm>
            <a:off x="7334250" y="3257550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3657A"/>
                </a:solidFill>
              </a:defRPr>
            </a:pPr>
            <a:r>
              <a:rPr sz="1050" b="0">
                <a:solidFill>
                  <a:srgbClr val="53657A"/>
                </a:solidFill>
              </a:rPr>
              <a:t>Receipt, QR, audit log, and customer credit update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B53F11-86C8-4F6B-A3BD-CABDCCFCB4F2}"/>
              </a:ext>
            </a:extLst>
          </p:cNvPr>
          <p:cNvSpPr>
            <a:spLocks noGrp="1"/>
          </p:cNvSpPr>
          <p:nvPr/>
        </p:nvSpPr>
        <p:spPr>
          <a:xfrm>
            <a:off x="8867775" y="27432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919B4F2-9711-42A5-BD7D-7D3252F4BC22}"/>
              </a:ext>
            </a:extLst>
          </p:cNvPr>
          <p:cNvSpPr>
            <a:spLocks noGrp="1"/>
          </p:cNvSpPr>
          <p:nvPr/>
        </p:nvSpPr>
        <p:spPr>
          <a:xfrm>
            <a:off x="9239250" y="2152650"/>
            <a:ext cx="1638300" cy="1619250"/>
          </a:xfrm>
          <a:prstGeom prst="roundRect">
            <a:avLst>
              <a:gd name="adj" fmla="val 9412"/>
            </a:avLst>
          </a:prstGeom>
          <a:solidFill>
            <a:srgbClr val="F5B942">
              <a:alpha val="7843"/>
            </a:srgbClr>
          </a:solidFill>
          <a:ln w="9525">
            <a:solidFill>
              <a:srgbClr val="F5B942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0D8C4B-EA68-4692-B8F2-226D11BD3610}"/>
              </a:ext>
            </a:extLst>
          </p:cNvPr>
          <p:cNvSpPr>
            <a:spLocks noGrp="1"/>
          </p:cNvSpPr>
          <p:nvPr/>
        </p:nvSpPr>
        <p:spPr>
          <a:xfrm>
            <a:off x="9429750" y="23812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F5B942"/>
                </a:solidFill>
              </a:defRPr>
            </a:pPr>
            <a:r>
              <a:rPr sz="1950" b="1">
                <a:solidFill>
                  <a:srgbClr val="F5B942"/>
                </a:solidFill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F6ACAD-6199-43AE-8851-46706746BDE3}"/>
              </a:ext>
            </a:extLst>
          </p:cNvPr>
          <p:cNvSpPr>
            <a:spLocks noGrp="1"/>
          </p:cNvSpPr>
          <p:nvPr/>
        </p:nvSpPr>
        <p:spPr>
          <a:xfrm>
            <a:off x="9429750" y="28575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92033"/>
                </a:solidFill>
              </a:defRPr>
            </a:pPr>
            <a:r>
              <a:rPr sz="1725" b="1">
                <a:solidFill>
                  <a:srgbClr val="092033"/>
                </a:solidFill>
              </a:rPr>
              <a:t>Decide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033A7A3-BEBF-4EA3-8C97-FCAEAFF65076}"/>
              </a:ext>
            </a:extLst>
          </p:cNvPr>
          <p:cNvSpPr>
            <a:spLocks noGrp="1"/>
          </p:cNvSpPr>
          <p:nvPr/>
        </p:nvSpPr>
        <p:spPr>
          <a:xfrm>
            <a:off x="9429750" y="3257550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3657A"/>
                </a:solidFill>
              </a:defRPr>
            </a:pPr>
            <a:r>
              <a:rPr sz="1050" b="0">
                <a:solidFill>
                  <a:srgbClr val="53657A"/>
                </a:solidFill>
              </a:rPr>
              <a:t>Dashboard and reports show what changed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C95CB85-01A9-4BD4-9E78-FCD44E021F62}"/>
              </a:ext>
            </a:extLst>
          </p:cNvPr>
          <p:cNvSpPr>
            <a:spLocks noGrp="1"/>
          </p:cNvSpPr>
          <p:nvPr/>
        </p:nvSpPr>
        <p:spPr>
          <a:xfrm>
            <a:off x="1619250" y="4572000"/>
            <a:ext cx="8953500" cy="704850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9525">
            <a:solidFill>
              <a:srgbClr val="B7DCC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942909-FF0B-4E7C-9828-DB7F99A1E0F1}"/>
              </a:ext>
            </a:extLst>
          </p:cNvPr>
          <p:cNvSpPr>
            <a:spLocks noGrp="1"/>
          </p:cNvSpPr>
          <p:nvPr/>
        </p:nvSpPr>
        <p:spPr>
          <a:xfrm>
            <a:off x="2000250" y="4686300"/>
            <a:ext cx="819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8C4A"/>
                </a:solidFill>
              </a:defRPr>
            </a:pPr>
            <a:r>
              <a:rPr sz="1575" b="1" dirty="0">
                <a:solidFill>
                  <a:srgbClr val="008C4A"/>
                </a:solidFill>
              </a:rPr>
              <a:t>The result is simple: every sale, restock, payment, employee action, and customer credit decision becomes visible, reportable, and auditable.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2F8E7DA-07F1-4744-9773-9471CAF8785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0C63A86-4A0D-423F-AFEC-F688149B12F9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60391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3CD2041-C498-499A-8A40-4FCE74FE7FD5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BizTrack turns daily business activity into one controlled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F74519-54B1-4532-9375-B9BEA83E22B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The system reduces scattered tools by connecting core operations, money movement, employees, and reporting.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01126" y="457200"/>
            <a:ext cx="828999" cy="552450"/>
          </a:xfrm>
          <a:prstGeom prst="roundRect">
            <a:avLst>
              <a:gd name="adj" fmla="val 13793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A2CD25-C8C6-466F-8FED-0DA49AA1B4D9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2381250" cy="2095500"/>
          </a:xfrm>
          <a:prstGeom prst="roundRect">
            <a:avLst>
              <a:gd name="adj" fmla="val 7273"/>
            </a:avLst>
          </a:prstGeom>
          <a:solidFill>
            <a:srgbClr val="EAF8EF"/>
          </a:solidFill>
          <a:ln w="9525">
            <a:solidFill>
              <a:srgbClr val="99D9B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D013F6-3B5F-4C33-98C5-53B48D47111B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8C4A"/>
                </a:solidFill>
              </a:defRPr>
            </a:pPr>
            <a:r>
              <a:rPr sz="1950" b="1">
                <a:solidFill>
                  <a:srgbClr val="008C4A"/>
                </a:solidFill>
              </a:rPr>
              <a:t>Control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FE0ECC-035D-4577-A38E-9E15CAFB3C0A}"/>
              </a:ext>
            </a:extLst>
          </p:cNvPr>
          <p:cNvSpPr>
            <a:spLocks noGrp="1"/>
          </p:cNvSpPr>
          <p:nvPr/>
        </p:nvSpPr>
        <p:spPr>
          <a:xfrm>
            <a:off x="838200" y="3000375"/>
            <a:ext cx="1885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Owners see activity, access, stock, credit, and cash movement clearly.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44D75D-8191-4142-8288-3CAB78CE4958}"/>
              </a:ext>
            </a:extLst>
          </p:cNvPr>
          <p:cNvSpPr>
            <a:spLocks noGrp="1"/>
          </p:cNvSpPr>
          <p:nvPr/>
        </p:nvSpPr>
        <p:spPr>
          <a:xfrm>
            <a:off x="3371850" y="2190750"/>
            <a:ext cx="2381250" cy="209550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9525">
            <a:solidFill>
              <a:srgbClr val="A9D7F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631451-99CD-4833-88BA-1C0A2AC14835}"/>
              </a:ext>
            </a:extLst>
          </p:cNvPr>
          <p:cNvSpPr>
            <a:spLocks noGrp="1"/>
          </p:cNvSpPr>
          <p:nvPr/>
        </p:nvSpPr>
        <p:spPr>
          <a:xfrm>
            <a:off x="3600450" y="24765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75985"/>
                </a:solidFill>
              </a:defRPr>
            </a:pPr>
            <a:r>
              <a:rPr sz="1950" b="1">
                <a:solidFill>
                  <a:srgbClr val="075985"/>
                </a:solidFill>
              </a:rPr>
              <a:t>Speed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8257E0-7802-4A80-BC34-981DDAFCF4B3}"/>
              </a:ext>
            </a:extLst>
          </p:cNvPr>
          <p:cNvSpPr>
            <a:spLocks noGrp="1"/>
          </p:cNvSpPr>
          <p:nvPr/>
        </p:nvSpPr>
        <p:spPr>
          <a:xfrm>
            <a:off x="3600450" y="3000375"/>
            <a:ext cx="1885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Cashiers and employees perform daily work through focused, role-aware screens.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EDB637C-1F6C-472D-AF69-753B84A8EFF0}"/>
              </a:ext>
            </a:extLst>
          </p:cNvPr>
          <p:cNvSpPr>
            <a:spLocks noGrp="1"/>
          </p:cNvSpPr>
          <p:nvPr/>
        </p:nvSpPr>
        <p:spPr>
          <a:xfrm>
            <a:off x="6134100" y="2190750"/>
            <a:ext cx="2381250" cy="2095500"/>
          </a:xfrm>
          <a:prstGeom prst="roundRect">
            <a:avLst>
              <a:gd name="adj" fmla="val 7273"/>
            </a:avLst>
          </a:prstGeom>
          <a:solidFill>
            <a:srgbClr val="FFF7E2"/>
          </a:solidFill>
          <a:ln w="9525">
            <a:solidFill>
              <a:srgbClr val="F3D27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4909C1-1592-400C-A534-D80075AE11F2}"/>
              </a:ext>
            </a:extLst>
          </p:cNvPr>
          <p:cNvSpPr>
            <a:spLocks noGrp="1"/>
          </p:cNvSpPr>
          <p:nvPr/>
        </p:nvSpPr>
        <p:spPr>
          <a:xfrm>
            <a:off x="6362700" y="24765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A16207"/>
                </a:solidFill>
              </a:defRPr>
            </a:pPr>
            <a:r>
              <a:rPr sz="1950" b="1">
                <a:solidFill>
                  <a:srgbClr val="A16207"/>
                </a:solidFill>
              </a:rPr>
              <a:t>Trust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7AF041-C5BB-47AB-861E-131F6ECA8B83}"/>
              </a:ext>
            </a:extLst>
          </p:cNvPr>
          <p:cNvSpPr>
            <a:spLocks noGrp="1"/>
          </p:cNvSpPr>
          <p:nvPr/>
        </p:nvSpPr>
        <p:spPr>
          <a:xfrm>
            <a:off x="6362700" y="3000375"/>
            <a:ext cx="1885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Audit logs, receipts, payments, and permissions make actions traceable.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69E72C9-0FA2-47F9-B2FA-E5A695CC45F0}"/>
              </a:ext>
            </a:extLst>
          </p:cNvPr>
          <p:cNvSpPr>
            <a:spLocks noGrp="1"/>
          </p:cNvSpPr>
          <p:nvPr/>
        </p:nvSpPr>
        <p:spPr>
          <a:xfrm>
            <a:off x="8896350" y="2190750"/>
            <a:ext cx="2381250" cy="2095500"/>
          </a:xfrm>
          <a:prstGeom prst="roundRect">
            <a:avLst>
              <a:gd name="adj" fmla="val 7273"/>
            </a:avLst>
          </a:prstGeom>
          <a:solidFill>
            <a:srgbClr val="FDECF4"/>
          </a:solidFill>
          <a:ln w="9525">
            <a:solidFill>
              <a:srgbClr val="EEB3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A71E12-290C-45E7-9C07-04C225921917}"/>
              </a:ext>
            </a:extLst>
          </p:cNvPr>
          <p:cNvSpPr>
            <a:spLocks noGrp="1"/>
          </p:cNvSpPr>
          <p:nvPr/>
        </p:nvSpPr>
        <p:spPr>
          <a:xfrm>
            <a:off x="9124950" y="24765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B4235A"/>
                </a:solidFill>
              </a:defRPr>
            </a:pPr>
            <a:r>
              <a:rPr sz="1950" b="1">
                <a:solidFill>
                  <a:srgbClr val="B4235A"/>
                </a:solidFill>
              </a:rPr>
              <a:t>Growth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4F603C-C042-47AE-899E-A917FF35B1CA}"/>
              </a:ext>
            </a:extLst>
          </p:cNvPr>
          <p:cNvSpPr>
            <a:spLocks noGrp="1"/>
          </p:cNvSpPr>
          <p:nvPr/>
        </p:nvSpPr>
        <p:spPr>
          <a:xfrm>
            <a:off x="9124950" y="3000375"/>
            <a:ext cx="1885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Subscriptions, analytics, and notifications support recurring platform revenue.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9DA2C3-208C-4146-854A-47711D702E6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C890C3-F836-4C93-BA55-4EE257EE28C7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86668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0521611-6119-440A-9DE6-F959C7046396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The target business problem is operational fragmentation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0F56E6-407C-4EFD-828F-B19581A0F5C3}"/>
              </a:ext>
            </a:extLst>
          </p:cNvPr>
          <p:cNvSpPr>
            <a:spLocks noGrp="1"/>
          </p:cNvSpPr>
          <p:nvPr/>
        </p:nvSpPr>
        <p:spPr>
          <a:xfrm>
            <a:off x="609600" y="1358081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Small and growing businesses often manage stock, sales, credit, payments, and staff in disconnected places.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t="5682" b="5682"/>
          <a:stretch>
            <a:fillRect/>
          </a:stretch>
        </p:blipFill>
        <p:spPr>
          <a:xfrm>
            <a:off x="7105650" y="1954162"/>
            <a:ext cx="4191000" cy="3714750"/>
          </a:xfrm>
          <a:prstGeom prst="roundRect">
            <a:avLst>
              <a:gd name="adj" fmla="val 4103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9AD500A-D8A6-47FB-A129-6FE6CB5E5E6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5524500" cy="3714750"/>
          </a:xfrm>
          <a:prstGeom prst="roundRect">
            <a:avLst>
              <a:gd name="adj" fmla="val 4103"/>
            </a:avLst>
          </a:prstGeom>
          <a:solidFill>
            <a:srgbClr val="FFFFFF">
              <a:alpha val="94118"/>
            </a:srgbClr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A670B5-9C6E-4AB8-A8FA-1466EDF3DAD3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4953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Sales records do not automatically update inventory.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Customer credit is tracked manually and becomes risky.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Employees often have too much or too little access.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Reports are delayed because data is spread across modules.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Payments, receipts, and audit history are difficult to verify.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307135-0F8F-474E-B58F-D962F4C4CF53}"/>
              </a:ext>
            </a:extLst>
          </p:cNvPr>
          <p:cNvSpPr>
            <a:spLocks noGrp="1"/>
          </p:cNvSpPr>
          <p:nvPr/>
        </p:nvSpPr>
        <p:spPr>
          <a:xfrm>
            <a:off x="952500" y="46863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8C4A"/>
                </a:solidFill>
              </a:defRPr>
            </a:pPr>
            <a:r>
              <a:rPr sz="1500" b="1">
                <a:solidFill>
                  <a:srgbClr val="008C4A"/>
                </a:solidFill>
              </a:rPr>
              <a:t>BizTrack’s purpose is to make the business easier to control every day.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934D13-1F27-47FA-827E-FBF6B892BAD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FD9C68-E48B-444C-AF45-7CC261C09C56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51088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2440585-FC64-4FA2-86A2-8E3478F46EA7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The solution is a connected business operating layer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3BE9BA-E246-4604-BAFD-6BD46559EC20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BizTrack connects the actions that happen during the day to the records owners need at night.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6705CCD-133D-488D-B60B-9A636EFE09FB}"/>
              </a:ext>
            </a:extLst>
          </p:cNvPr>
          <p:cNvSpPr>
            <a:spLocks noGrp="1"/>
          </p:cNvSpPr>
          <p:nvPr/>
        </p:nvSpPr>
        <p:spPr>
          <a:xfrm>
            <a:off x="857250" y="2476500"/>
            <a:ext cx="1333500" cy="1143000"/>
          </a:xfrm>
          <a:prstGeom prst="roundRect">
            <a:avLst>
              <a:gd name="adj" fmla="val 13333"/>
            </a:avLst>
          </a:prstGeom>
          <a:solidFill>
            <a:srgbClr val="E8F4FF"/>
          </a:solidFill>
          <a:ln w="9525">
            <a:solidFill>
              <a:srgbClr val="9FD3F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F29B6F-250F-4F4B-A334-FE6639B3F926}"/>
              </a:ext>
            </a:extLst>
          </p:cNvPr>
          <p:cNvSpPr>
            <a:spLocks noGrp="1"/>
          </p:cNvSpPr>
          <p:nvPr/>
        </p:nvSpPr>
        <p:spPr>
          <a:xfrm>
            <a:off x="1047750" y="266700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75985"/>
                </a:solidFill>
              </a:defRPr>
            </a:pPr>
            <a:r>
              <a:rPr sz="1950" b="1">
                <a:solidFill>
                  <a:srgbClr val="075985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C5556F-208C-4301-800B-25049165B655}"/>
              </a:ext>
            </a:extLst>
          </p:cNvPr>
          <p:cNvSpPr>
            <a:spLocks noGrp="1"/>
          </p:cNvSpPr>
          <p:nvPr/>
        </p:nvSpPr>
        <p:spPr>
          <a:xfrm>
            <a:off x="1047750" y="3105150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92033"/>
                </a:solidFill>
              </a:defRPr>
            </a:pPr>
            <a:r>
              <a:rPr sz="1500" b="1">
                <a:solidFill>
                  <a:srgbClr val="092033"/>
                </a:solidFill>
              </a:rPr>
              <a:t>Onboard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3285A9-5B78-40D5-A257-94A2DE9DFA3C}"/>
              </a:ext>
            </a:extLst>
          </p:cNvPr>
          <p:cNvSpPr>
            <a:spLocks noGrp="1"/>
          </p:cNvSpPr>
          <p:nvPr/>
        </p:nvSpPr>
        <p:spPr>
          <a:xfrm>
            <a:off x="2286000" y="287655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8797E0-AD02-4CA7-968B-8184F44485D3}"/>
              </a:ext>
            </a:extLst>
          </p:cNvPr>
          <p:cNvSpPr>
            <a:spLocks noGrp="1"/>
          </p:cNvSpPr>
          <p:nvPr/>
        </p:nvSpPr>
        <p:spPr>
          <a:xfrm>
            <a:off x="2667000" y="2476500"/>
            <a:ext cx="1333500" cy="1143000"/>
          </a:xfrm>
          <a:prstGeom prst="roundRect">
            <a:avLst>
              <a:gd name="adj" fmla="val 13333"/>
            </a:avLst>
          </a:prstGeom>
          <a:solidFill>
            <a:srgbClr val="EAF8EF"/>
          </a:solidFill>
          <a:ln w="9525">
            <a:solidFill>
              <a:srgbClr val="8FD6A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078BDF-D855-4595-A024-370212369CA9}"/>
              </a:ext>
            </a:extLst>
          </p:cNvPr>
          <p:cNvSpPr>
            <a:spLocks noGrp="1"/>
          </p:cNvSpPr>
          <p:nvPr/>
        </p:nvSpPr>
        <p:spPr>
          <a:xfrm>
            <a:off x="2857500" y="266700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8C4A"/>
                </a:solidFill>
              </a:defRPr>
            </a:pPr>
            <a:r>
              <a:rPr sz="1950" b="1">
                <a:solidFill>
                  <a:srgbClr val="008C4A"/>
                </a:solidFill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E8B412-19BF-4361-B3A8-929A15E7B3E6}"/>
              </a:ext>
            </a:extLst>
          </p:cNvPr>
          <p:cNvSpPr>
            <a:spLocks noGrp="1"/>
          </p:cNvSpPr>
          <p:nvPr/>
        </p:nvSpPr>
        <p:spPr>
          <a:xfrm>
            <a:off x="2857500" y="3105150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92033"/>
                </a:solidFill>
              </a:defRPr>
            </a:pPr>
            <a:r>
              <a:rPr sz="1500" b="1">
                <a:solidFill>
                  <a:srgbClr val="092033"/>
                </a:solidFill>
              </a:rPr>
              <a:t>Catalog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E11892-37FF-4A09-99CB-7E81438D3E89}"/>
              </a:ext>
            </a:extLst>
          </p:cNvPr>
          <p:cNvSpPr>
            <a:spLocks noGrp="1"/>
          </p:cNvSpPr>
          <p:nvPr/>
        </p:nvSpPr>
        <p:spPr>
          <a:xfrm>
            <a:off x="4095750" y="287655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EC3668C-6915-4B3F-B620-FAB775C4511C}"/>
              </a:ext>
            </a:extLst>
          </p:cNvPr>
          <p:cNvSpPr>
            <a:spLocks noGrp="1"/>
          </p:cNvSpPr>
          <p:nvPr/>
        </p:nvSpPr>
        <p:spPr>
          <a:xfrm>
            <a:off x="4476750" y="2476500"/>
            <a:ext cx="1333500" cy="1143000"/>
          </a:xfrm>
          <a:prstGeom prst="roundRect">
            <a:avLst>
              <a:gd name="adj" fmla="val 13333"/>
            </a:avLst>
          </a:prstGeom>
          <a:solidFill>
            <a:srgbClr val="E8F4FF"/>
          </a:solidFill>
          <a:ln w="9525">
            <a:solidFill>
              <a:srgbClr val="9FD3F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CE4F74-4757-4890-83BD-239EEDC4D486}"/>
              </a:ext>
            </a:extLst>
          </p:cNvPr>
          <p:cNvSpPr>
            <a:spLocks noGrp="1"/>
          </p:cNvSpPr>
          <p:nvPr/>
        </p:nvSpPr>
        <p:spPr>
          <a:xfrm>
            <a:off x="4667250" y="266700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75985"/>
                </a:solidFill>
              </a:defRPr>
            </a:pPr>
            <a:r>
              <a:rPr sz="1950" b="1">
                <a:solidFill>
                  <a:srgbClr val="075985"/>
                </a:solidFill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715E1C-8B5F-4D6F-8F45-3CF051AC7640}"/>
              </a:ext>
            </a:extLst>
          </p:cNvPr>
          <p:cNvSpPr>
            <a:spLocks noGrp="1"/>
          </p:cNvSpPr>
          <p:nvPr/>
        </p:nvSpPr>
        <p:spPr>
          <a:xfrm>
            <a:off x="4667250" y="3105150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92033"/>
                </a:solidFill>
              </a:defRPr>
            </a:pPr>
            <a:r>
              <a:rPr sz="1500" b="1">
                <a:solidFill>
                  <a:srgbClr val="092033"/>
                </a:solidFill>
              </a:rPr>
              <a:t>Stock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19E676-E27A-4D3C-A1CB-CD561C18B063}"/>
              </a:ext>
            </a:extLst>
          </p:cNvPr>
          <p:cNvSpPr>
            <a:spLocks noGrp="1"/>
          </p:cNvSpPr>
          <p:nvPr/>
        </p:nvSpPr>
        <p:spPr>
          <a:xfrm>
            <a:off x="5905500" y="287655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EBEFE2B-3F53-4976-AD15-6EECBB1426AA}"/>
              </a:ext>
            </a:extLst>
          </p:cNvPr>
          <p:cNvSpPr>
            <a:spLocks noGrp="1"/>
          </p:cNvSpPr>
          <p:nvPr/>
        </p:nvSpPr>
        <p:spPr>
          <a:xfrm>
            <a:off x="6286500" y="2476500"/>
            <a:ext cx="1333500" cy="1143000"/>
          </a:xfrm>
          <a:prstGeom prst="roundRect">
            <a:avLst>
              <a:gd name="adj" fmla="val 13333"/>
            </a:avLst>
          </a:prstGeom>
          <a:solidFill>
            <a:srgbClr val="EAF8EF"/>
          </a:solidFill>
          <a:ln w="9525">
            <a:solidFill>
              <a:srgbClr val="8FD6A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6CE4D9-F05E-4CF0-AEBA-D7011AF45041}"/>
              </a:ext>
            </a:extLst>
          </p:cNvPr>
          <p:cNvSpPr>
            <a:spLocks noGrp="1"/>
          </p:cNvSpPr>
          <p:nvPr/>
        </p:nvSpPr>
        <p:spPr>
          <a:xfrm>
            <a:off x="6477000" y="266700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8C4A"/>
                </a:solidFill>
              </a:defRPr>
            </a:pPr>
            <a:r>
              <a:rPr sz="1950" b="1">
                <a:solidFill>
                  <a:srgbClr val="008C4A"/>
                </a:solidFill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906A29-21A3-41F3-946B-7099C64228E7}"/>
              </a:ext>
            </a:extLst>
          </p:cNvPr>
          <p:cNvSpPr>
            <a:spLocks noGrp="1"/>
          </p:cNvSpPr>
          <p:nvPr/>
        </p:nvSpPr>
        <p:spPr>
          <a:xfrm>
            <a:off x="6477000" y="3105150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92033"/>
                </a:solidFill>
              </a:defRPr>
            </a:pPr>
            <a:r>
              <a:rPr sz="1500" b="1">
                <a:solidFill>
                  <a:srgbClr val="092033"/>
                </a:solidFill>
              </a:rPr>
              <a:t>Sell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8C9FAB-3755-4282-B7A0-2952CFC45733}"/>
              </a:ext>
            </a:extLst>
          </p:cNvPr>
          <p:cNvSpPr>
            <a:spLocks noGrp="1"/>
          </p:cNvSpPr>
          <p:nvPr/>
        </p:nvSpPr>
        <p:spPr>
          <a:xfrm>
            <a:off x="7715250" y="287655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D9880D7-F604-4FA5-82DD-8C655AAF948C}"/>
              </a:ext>
            </a:extLst>
          </p:cNvPr>
          <p:cNvSpPr>
            <a:spLocks noGrp="1"/>
          </p:cNvSpPr>
          <p:nvPr/>
        </p:nvSpPr>
        <p:spPr>
          <a:xfrm>
            <a:off x="8096250" y="2476500"/>
            <a:ext cx="1333500" cy="1143000"/>
          </a:xfrm>
          <a:prstGeom prst="roundRect">
            <a:avLst>
              <a:gd name="adj" fmla="val 13333"/>
            </a:avLst>
          </a:prstGeom>
          <a:solidFill>
            <a:srgbClr val="E8F4FF"/>
          </a:solidFill>
          <a:ln w="9525">
            <a:solidFill>
              <a:srgbClr val="9FD3F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B8481E-7561-44D8-8F09-2984FAE0DB1A}"/>
              </a:ext>
            </a:extLst>
          </p:cNvPr>
          <p:cNvSpPr>
            <a:spLocks noGrp="1"/>
          </p:cNvSpPr>
          <p:nvPr/>
        </p:nvSpPr>
        <p:spPr>
          <a:xfrm>
            <a:off x="8286750" y="266700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75985"/>
                </a:solidFill>
              </a:defRPr>
            </a:pPr>
            <a:r>
              <a:rPr sz="1950" b="1">
                <a:solidFill>
                  <a:srgbClr val="075985"/>
                </a:solidFill>
              </a:rPr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4DD6BE-6480-40B4-B936-FBA2BE280370}"/>
              </a:ext>
            </a:extLst>
          </p:cNvPr>
          <p:cNvSpPr>
            <a:spLocks noGrp="1"/>
          </p:cNvSpPr>
          <p:nvPr/>
        </p:nvSpPr>
        <p:spPr>
          <a:xfrm>
            <a:off x="8286750" y="3105150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92033"/>
                </a:solidFill>
              </a:defRPr>
            </a:pPr>
            <a:r>
              <a:rPr sz="1500" b="1">
                <a:solidFill>
                  <a:srgbClr val="092033"/>
                </a:solidFill>
              </a:rPr>
              <a:t>Collect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DAC7BB-6FAA-4D25-A782-761411ABB65D}"/>
              </a:ext>
            </a:extLst>
          </p:cNvPr>
          <p:cNvSpPr>
            <a:spLocks noGrp="1"/>
          </p:cNvSpPr>
          <p:nvPr/>
        </p:nvSpPr>
        <p:spPr>
          <a:xfrm>
            <a:off x="9525000" y="287655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C590BC8-B549-4647-8F1A-CD2643BF34E2}"/>
              </a:ext>
            </a:extLst>
          </p:cNvPr>
          <p:cNvSpPr>
            <a:spLocks noGrp="1"/>
          </p:cNvSpPr>
          <p:nvPr/>
        </p:nvSpPr>
        <p:spPr>
          <a:xfrm>
            <a:off x="9906000" y="2476500"/>
            <a:ext cx="1333500" cy="1143000"/>
          </a:xfrm>
          <a:prstGeom prst="roundRect">
            <a:avLst>
              <a:gd name="adj" fmla="val 13333"/>
            </a:avLst>
          </a:prstGeom>
          <a:solidFill>
            <a:srgbClr val="EAF8EF"/>
          </a:solidFill>
          <a:ln w="9525">
            <a:solidFill>
              <a:srgbClr val="8FD6A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AC3E4E-E90C-4E8B-AA49-1E6D64AA5DFD}"/>
              </a:ext>
            </a:extLst>
          </p:cNvPr>
          <p:cNvSpPr>
            <a:spLocks noGrp="1"/>
          </p:cNvSpPr>
          <p:nvPr/>
        </p:nvSpPr>
        <p:spPr>
          <a:xfrm>
            <a:off x="10096500" y="266700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8C4A"/>
                </a:solidFill>
              </a:defRPr>
            </a:pPr>
            <a:r>
              <a:rPr sz="1950" b="1">
                <a:solidFill>
                  <a:srgbClr val="008C4A"/>
                </a:solidFill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B35E11-2AC3-4EFE-951E-8E88F90E40CE}"/>
              </a:ext>
            </a:extLst>
          </p:cNvPr>
          <p:cNvSpPr>
            <a:spLocks noGrp="1"/>
          </p:cNvSpPr>
          <p:nvPr/>
        </p:nvSpPr>
        <p:spPr>
          <a:xfrm>
            <a:off x="10096500" y="3105150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92033"/>
                </a:solidFill>
              </a:defRPr>
            </a:pPr>
            <a:r>
              <a:rPr sz="1500" b="1">
                <a:solidFill>
                  <a:srgbClr val="092033"/>
                </a:solidFill>
              </a:rPr>
              <a:t>Report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130C37-AFD7-45CD-9529-50B325FD2D9F}"/>
              </a:ext>
            </a:extLst>
          </p:cNvPr>
          <p:cNvSpPr>
            <a:spLocks noGrp="1"/>
          </p:cNvSpPr>
          <p:nvPr/>
        </p:nvSpPr>
        <p:spPr>
          <a:xfrm>
            <a:off x="1428750" y="43624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53657A"/>
                </a:solidFill>
              </a:defRPr>
            </a:pPr>
            <a:r>
              <a:rPr sz="1650" b="0">
                <a:solidFill>
                  <a:srgbClr val="53657A"/>
                </a:solidFill>
              </a:rPr>
              <a:t>Each module feeds the next: inventory informs sales, payments inform credit and reports, and audit logs preserve accountability.</a:t>
            </a:r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01126" y="457200"/>
            <a:ext cx="828999" cy="552450"/>
          </a:xfrm>
          <a:prstGeom prst="roundRect">
            <a:avLst>
              <a:gd name="adj" fmla="val 13793"/>
            </a:avLst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172E3286-BAEB-4036-9E20-BD1A432B1A8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6BBF1C-2FFF-4906-9437-B88F94F6B0D9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8723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5EE967F-0033-4C4B-B484-67FD3D64CED2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 dirty="0">
                <a:solidFill>
                  <a:srgbClr val="092033"/>
                </a:solidFill>
              </a:rPr>
              <a:t>Role-based access keeps every user inside the right boundary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E2638D-5C6D-4520-9DE2-CE2DE53E39A5}"/>
              </a:ext>
            </a:extLst>
          </p:cNvPr>
          <p:cNvSpPr>
            <a:spLocks noGrp="1"/>
          </p:cNvSpPr>
          <p:nvPr/>
        </p:nvSpPr>
        <p:spPr>
          <a:xfrm>
            <a:off x="737419" y="1443498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 err="1">
                <a:solidFill>
                  <a:srgbClr val="53657A"/>
                </a:solidFill>
              </a:rPr>
              <a:t>BizTrack</a:t>
            </a:r>
            <a:r>
              <a:rPr sz="1350" b="0" dirty="0">
                <a:solidFill>
                  <a:srgbClr val="53657A"/>
                </a:solidFill>
              </a:rPr>
              <a:t> combines fixed platform roles with flexible employee permissions owned by each business.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23219E9-1D7E-49B4-832D-EE67EB9B1F3D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238500" cy="3524250"/>
          </a:xfrm>
          <a:prstGeom prst="roundRect">
            <a:avLst>
              <a:gd name="adj" fmla="val 4706"/>
            </a:avLst>
          </a:prstGeom>
          <a:solidFill>
            <a:srgbClr val="E8F4FF"/>
          </a:solidFill>
          <a:ln w="9525">
            <a:solidFill>
              <a:srgbClr val="9FD3F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2284B0-1431-4E62-B16B-E81DE595C3C6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75985"/>
                </a:solidFill>
              </a:defRPr>
            </a:pPr>
            <a:r>
              <a:rPr sz="1950" b="1">
                <a:solidFill>
                  <a:srgbClr val="075985"/>
                </a:solidFill>
              </a:rPr>
              <a:t>Super Admin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51919C-5F57-4EDF-98BB-4D170B49CE40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27241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Manage platform visibility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View businesses and users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Monitor health and audit logs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Manage subscriptions and inbox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DC363D-2C1B-47BE-BA91-520DF1CAE327}"/>
              </a:ext>
            </a:extLst>
          </p:cNvPr>
          <p:cNvSpPr>
            <a:spLocks noGrp="1"/>
          </p:cNvSpPr>
          <p:nvPr/>
        </p:nvSpPr>
        <p:spPr>
          <a:xfrm>
            <a:off x="4267200" y="1809750"/>
            <a:ext cx="3238500" cy="3524250"/>
          </a:xfrm>
          <a:prstGeom prst="roundRect">
            <a:avLst>
              <a:gd name="adj" fmla="val 4706"/>
            </a:avLst>
          </a:prstGeom>
          <a:solidFill>
            <a:srgbClr val="EAF8EF"/>
          </a:solidFill>
          <a:ln w="9525">
            <a:solidFill>
              <a:srgbClr val="8FD6A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116CF1-A5DA-47D6-881D-A0EB00514CF4}"/>
              </a:ext>
            </a:extLst>
          </p:cNvPr>
          <p:cNvSpPr>
            <a:spLocks noGrp="1"/>
          </p:cNvSpPr>
          <p:nvPr/>
        </p:nvSpPr>
        <p:spPr>
          <a:xfrm>
            <a:off x="4514850" y="21336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8C4A"/>
                </a:solidFill>
              </a:defRPr>
            </a:pPr>
            <a:r>
              <a:rPr sz="1950" b="1">
                <a:solidFill>
                  <a:srgbClr val="008C4A"/>
                </a:solidFill>
              </a:rPr>
              <a:t>Business Owner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158F5E-5EF8-4158-874E-92C9EA3C6910}"/>
              </a:ext>
            </a:extLst>
          </p:cNvPr>
          <p:cNvSpPr>
            <a:spLocks noGrp="1"/>
          </p:cNvSpPr>
          <p:nvPr/>
        </p:nvSpPr>
        <p:spPr>
          <a:xfrm>
            <a:off x="4552950" y="2781300"/>
            <a:ext cx="27241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Complete onboarding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Manage catalog and stock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Create employees and permissions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Review reports and transactions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1E78AC2-DA1D-44BF-AB3A-4E6AB6B5D0B0}"/>
              </a:ext>
            </a:extLst>
          </p:cNvPr>
          <p:cNvSpPr>
            <a:spLocks noGrp="1"/>
          </p:cNvSpPr>
          <p:nvPr/>
        </p:nvSpPr>
        <p:spPr>
          <a:xfrm>
            <a:off x="7924800" y="1809750"/>
            <a:ext cx="3238500" cy="3524250"/>
          </a:xfrm>
          <a:prstGeom prst="roundRect">
            <a:avLst>
              <a:gd name="adj" fmla="val 4706"/>
            </a:avLst>
          </a:prstGeom>
          <a:solidFill>
            <a:srgbClr val="FFF7E2"/>
          </a:solidFill>
          <a:ln w="9525">
            <a:solidFill>
              <a:srgbClr val="ECCA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AAD269-783B-46CB-9964-60AF3EAC35D1}"/>
              </a:ext>
            </a:extLst>
          </p:cNvPr>
          <p:cNvSpPr>
            <a:spLocks noGrp="1"/>
          </p:cNvSpPr>
          <p:nvPr/>
        </p:nvSpPr>
        <p:spPr>
          <a:xfrm>
            <a:off x="8172450" y="21336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A16207"/>
                </a:solidFill>
              </a:defRPr>
            </a:pPr>
            <a:r>
              <a:rPr sz="1950" b="1">
                <a:solidFill>
                  <a:srgbClr val="A16207"/>
                </a:solidFill>
              </a:rPr>
              <a:t>Employee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A258B1-B865-4157-8CC2-80C9E3CC3008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27241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Access only assigned modules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Sell, stock, or support workflows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Use dashboard when a module is granted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Cannot cross business boundaries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1553D1-D958-4F60-A2F6-C7855D3FE70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A47464-29AB-4165-8D7D-76CBFC7F183B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7186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6F61A4E-462C-47D9-9B27-E1C5DAC38A39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Onboarding is intentionally simple before access is granted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5C4EB9-AF75-4D69-8EB3-07CAE6802C24}"/>
              </a:ext>
            </a:extLst>
          </p:cNvPr>
          <p:cNvSpPr>
            <a:spLocks noGrp="1"/>
          </p:cNvSpPr>
          <p:nvPr/>
        </p:nvSpPr>
        <p:spPr>
          <a:xfrm>
            <a:off x="609600" y="1576848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A new owner signs up, verifies email and phone, creates a minimal business profile, then chooses trial or paid access.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A9F234-E9BC-48E6-AA76-18F4B9EB7F30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695450" cy="18097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FD9595-D867-4D86-98EA-51E361DB3049}"/>
              </a:ext>
            </a:extLst>
          </p:cNvPr>
          <p:cNvSpPr>
            <a:spLocks noGrp="1"/>
          </p:cNvSpPr>
          <p:nvPr/>
        </p:nvSpPr>
        <p:spPr>
          <a:xfrm>
            <a:off x="1143000" y="24765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92033"/>
                </a:solidFill>
              </a:defRPr>
            </a:pPr>
            <a:r>
              <a:rPr sz="1800" b="1">
                <a:solidFill>
                  <a:srgbClr val="092033"/>
                </a:solidFill>
              </a:rPr>
              <a:t>Sign 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5F8459-E08A-421F-BFEA-1D49B4E770CD}"/>
              </a:ext>
            </a:extLst>
          </p:cNvPr>
          <p:cNvSpPr>
            <a:spLocks noGrp="1"/>
          </p:cNvSpPr>
          <p:nvPr/>
        </p:nvSpPr>
        <p:spPr>
          <a:xfrm>
            <a:off x="1143000" y="2952750"/>
            <a:ext cx="125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Create account with strong password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E06A532-4116-417F-B3BB-1FC9BEF84D13}"/>
              </a:ext>
            </a:extLst>
          </p:cNvPr>
          <p:cNvSpPr>
            <a:spLocks noGrp="1"/>
          </p:cNvSpPr>
          <p:nvPr/>
        </p:nvSpPr>
        <p:spPr>
          <a:xfrm>
            <a:off x="3000375" y="2190750"/>
            <a:ext cx="1695450" cy="18097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19C5A7-46CA-4A34-B871-61DE20151216}"/>
              </a:ext>
            </a:extLst>
          </p:cNvPr>
          <p:cNvSpPr>
            <a:spLocks noGrp="1"/>
          </p:cNvSpPr>
          <p:nvPr/>
        </p:nvSpPr>
        <p:spPr>
          <a:xfrm>
            <a:off x="3190875" y="24765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92033"/>
                </a:solidFill>
              </a:defRPr>
            </a:pPr>
            <a:r>
              <a:rPr sz="1800" b="1">
                <a:solidFill>
                  <a:srgbClr val="092033"/>
                </a:solidFill>
              </a:rPr>
              <a:t>Verify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17A8A4-B379-475E-B89A-759EC2C75B53}"/>
              </a:ext>
            </a:extLst>
          </p:cNvPr>
          <p:cNvSpPr>
            <a:spLocks noGrp="1"/>
          </p:cNvSpPr>
          <p:nvPr/>
        </p:nvSpPr>
        <p:spPr>
          <a:xfrm>
            <a:off x="3190875" y="2952750"/>
            <a:ext cx="125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Email and phone confirm identity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1AA051A-99C3-4DAC-9A93-A5E99FB86549}"/>
              </a:ext>
            </a:extLst>
          </p:cNvPr>
          <p:cNvSpPr>
            <a:spLocks noGrp="1"/>
          </p:cNvSpPr>
          <p:nvPr/>
        </p:nvSpPr>
        <p:spPr>
          <a:xfrm>
            <a:off x="5048250" y="2190750"/>
            <a:ext cx="1695450" cy="18097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0FD8C4-9B07-47B5-863F-1052DF557069}"/>
              </a:ext>
            </a:extLst>
          </p:cNvPr>
          <p:cNvSpPr>
            <a:spLocks noGrp="1"/>
          </p:cNvSpPr>
          <p:nvPr/>
        </p:nvSpPr>
        <p:spPr>
          <a:xfrm>
            <a:off x="5238750" y="24765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92033"/>
                </a:solidFill>
              </a:defRPr>
            </a:pPr>
            <a:r>
              <a:rPr sz="1800" b="1">
                <a:solidFill>
                  <a:srgbClr val="092033"/>
                </a:solidFill>
              </a:rPr>
              <a:t>Profile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6E4935-9C05-43BC-B253-0563DB208F03}"/>
              </a:ext>
            </a:extLst>
          </p:cNvPr>
          <p:cNvSpPr>
            <a:spLocks noGrp="1"/>
          </p:cNvSpPr>
          <p:nvPr/>
        </p:nvSpPr>
        <p:spPr>
          <a:xfrm>
            <a:off x="5238750" y="2952750"/>
            <a:ext cx="125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Business name, category, optional logo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4430239-DCC9-4AAC-B6B5-C54BF8DD5D99}"/>
              </a:ext>
            </a:extLst>
          </p:cNvPr>
          <p:cNvSpPr>
            <a:spLocks noGrp="1"/>
          </p:cNvSpPr>
          <p:nvPr/>
        </p:nvSpPr>
        <p:spPr>
          <a:xfrm>
            <a:off x="7096125" y="2190750"/>
            <a:ext cx="1695450" cy="18097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B8078D-7E40-4DAE-AFB6-C659C32E20C2}"/>
              </a:ext>
            </a:extLst>
          </p:cNvPr>
          <p:cNvSpPr>
            <a:spLocks noGrp="1"/>
          </p:cNvSpPr>
          <p:nvPr/>
        </p:nvSpPr>
        <p:spPr>
          <a:xfrm>
            <a:off x="7286625" y="24765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92033"/>
                </a:solidFill>
              </a:defRPr>
            </a:pPr>
            <a:r>
              <a:rPr sz="1800" b="1">
                <a:solidFill>
                  <a:srgbClr val="092033"/>
                </a:solidFill>
              </a:rPr>
              <a:t>Plan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361AF8-FB6D-4003-BE1B-A58DD05337F7}"/>
              </a:ext>
            </a:extLst>
          </p:cNvPr>
          <p:cNvSpPr>
            <a:spLocks noGrp="1"/>
          </p:cNvSpPr>
          <p:nvPr/>
        </p:nvSpPr>
        <p:spPr>
          <a:xfrm>
            <a:off x="7286625" y="2952750"/>
            <a:ext cx="125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Trial or paid subscription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421440E-A40C-41C7-A4B0-24E39E90CC89}"/>
              </a:ext>
            </a:extLst>
          </p:cNvPr>
          <p:cNvSpPr>
            <a:spLocks noGrp="1"/>
          </p:cNvSpPr>
          <p:nvPr/>
        </p:nvSpPr>
        <p:spPr>
          <a:xfrm>
            <a:off x="9144000" y="2190750"/>
            <a:ext cx="1695450" cy="18097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008C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E6CE37-DA51-4083-B3A4-EC9885EB2D1B}"/>
              </a:ext>
            </a:extLst>
          </p:cNvPr>
          <p:cNvSpPr>
            <a:spLocks noGrp="1"/>
          </p:cNvSpPr>
          <p:nvPr/>
        </p:nvSpPr>
        <p:spPr>
          <a:xfrm>
            <a:off x="9334500" y="24765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8C4A"/>
                </a:solidFill>
              </a:defRPr>
            </a:pPr>
            <a:r>
              <a:rPr sz="1800" b="1">
                <a:solidFill>
                  <a:srgbClr val="008C4A"/>
                </a:solidFill>
              </a:rPr>
              <a:t>Access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D25B54-64F4-4B49-9975-5B3BCD8901C9}"/>
              </a:ext>
            </a:extLst>
          </p:cNvPr>
          <p:cNvSpPr>
            <a:spLocks noGrp="1"/>
          </p:cNvSpPr>
          <p:nvPr/>
        </p:nvSpPr>
        <p:spPr>
          <a:xfrm>
            <a:off x="9334500" y="2952750"/>
            <a:ext cx="125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Dashboard opens after trial or payment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4CDBF9-631C-47A0-946E-D474E438C25B}"/>
              </a:ext>
            </a:extLst>
          </p:cNvPr>
          <p:cNvSpPr>
            <a:spLocks noGrp="1"/>
          </p:cNvSpPr>
          <p:nvPr/>
        </p:nvSpPr>
        <p:spPr>
          <a:xfrm>
            <a:off x="1428750" y="4686300"/>
            <a:ext cx="933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8C4A"/>
                </a:solidFill>
              </a:defRPr>
            </a:pPr>
            <a:r>
              <a:rPr sz="1575" b="1">
                <a:solidFill>
                  <a:srgbClr val="008C4A"/>
                </a:solidFill>
              </a:rPr>
              <a:t>Document upload review is no longer the gate for access; access is driven by verified trial or payment status.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B1A292-A073-4E6A-A984-CA42CE3AD72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7B4515-85BF-42C2-9788-60CAAE007B75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90710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F52C46E-2E67-4880-AC01-8B10937F94A7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The owner workspace centers the modules used every day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060829-037A-4607-A8DA-A95F0188F8AA}"/>
              </a:ext>
            </a:extLst>
          </p:cNvPr>
          <p:cNvSpPr>
            <a:spLocks noGrp="1"/>
          </p:cNvSpPr>
          <p:nvPr/>
        </p:nvSpPr>
        <p:spPr>
          <a:xfrm>
            <a:off x="616360" y="144780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The sidebar is organized by work context so the system feels professional and predictable.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52D4451-C290-44E9-A673-45936A0EAC15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143250" cy="1333500"/>
          </a:xfrm>
          <a:prstGeom prst="roundRect">
            <a:avLst>
              <a:gd name="adj" fmla="val 11429"/>
            </a:avLst>
          </a:prstGeom>
          <a:solidFill>
            <a:srgbClr val="E8F4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E97D34-A238-46E2-973C-42AE6DB429F3}"/>
              </a:ext>
            </a:extLst>
          </p:cNvPr>
          <p:cNvSpPr>
            <a:spLocks noGrp="1"/>
          </p:cNvSpPr>
          <p:nvPr/>
        </p:nvSpPr>
        <p:spPr>
          <a:xfrm>
            <a:off x="819150" y="2133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75985"/>
                </a:solidFill>
              </a:defRPr>
            </a:pPr>
            <a:r>
              <a:rPr sz="1800" b="1">
                <a:solidFill>
                  <a:srgbClr val="075985"/>
                </a:solidFill>
              </a:rPr>
              <a:t>Workspace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21960E-049F-4D13-A631-8EAFED2AB572}"/>
              </a:ext>
            </a:extLst>
          </p:cNvPr>
          <p:cNvSpPr>
            <a:spLocks noGrp="1"/>
          </p:cNvSpPr>
          <p:nvPr/>
        </p:nvSpPr>
        <p:spPr>
          <a:xfrm>
            <a:off x="819150" y="25527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3657A"/>
                </a:solidFill>
              </a:defRPr>
            </a:pPr>
            <a:r>
              <a:rPr sz="1275" b="0">
                <a:solidFill>
                  <a:srgbClr val="53657A"/>
                </a:solidFill>
              </a:rPr>
              <a:t>Dashboard, notifications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C10F12-6240-492A-BBA0-C60DA8F348FC}"/>
              </a:ext>
            </a:extLst>
          </p:cNvPr>
          <p:cNvSpPr>
            <a:spLocks noGrp="1"/>
          </p:cNvSpPr>
          <p:nvPr/>
        </p:nvSpPr>
        <p:spPr>
          <a:xfrm>
            <a:off x="4324350" y="1885950"/>
            <a:ext cx="3143250" cy="1333500"/>
          </a:xfrm>
          <a:prstGeom prst="roundRect">
            <a:avLst>
              <a:gd name="adj" fmla="val 11429"/>
            </a:avLst>
          </a:prstGeom>
          <a:solidFill>
            <a:srgbClr val="EAF8E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55BB1C-AD5F-4549-9049-AEABFEC9BB8C}"/>
              </a:ext>
            </a:extLst>
          </p:cNvPr>
          <p:cNvSpPr>
            <a:spLocks noGrp="1"/>
          </p:cNvSpPr>
          <p:nvPr/>
        </p:nvSpPr>
        <p:spPr>
          <a:xfrm>
            <a:off x="4533900" y="2133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8C4A"/>
                </a:solidFill>
              </a:defRPr>
            </a:pPr>
            <a:r>
              <a:rPr sz="1800" b="1">
                <a:solidFill>
                  <a:srgbClr val="008C4A"/>
                </a:solidFill>
              </a:rPr>
              <a:t>Catalog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9D7550-AA6F-469F-9F59-F3EF12B553B7}"/>
              </a:ext>
            </a:extLst>
          </p:cNvPr>
          <p:cNvSpPr>
            <a:spLocks noGrp="1"/>
          </p:cNvSpPr>
          <p:nvPr/>
        </p:nvSpPr>
        <p:spPr>
          <a:xfrm>
            <a:off x="4533900" y="25527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3657A"/>
                </a:solidFill>
              </a:defRPr>
            </a:pPr>
            <a:r>
              <a:rPr sz="1275" b="0">
                <a:solidFill>
                  <a:srgbClr val="53657A"/>
                </a:solidFill>
              </a:rPr>
              <a:t>Categories, products, inventory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6242E77-7CDD-484C-A771-AA5644606B22}"/>
              </a:ext>
            </a:extLst>
          </p:cNvPr>
          <p:cNvSpPr>
            <a:spLocks noGrp="1"/>
          </p:cNvSpPr>
          <p:nvPr/>
        </p:nvSpPr>
        <p:spPr>
          <a:xfrm>
            <a:off x="8039100" y="1885950"/>
            <a:ext cx="3143250" cy="1333500"/>
          </a:xfrm>
          <a:prstGeom prst="roundRect">
            <a:avLst>
              <a:gd name="adj" fmla="val 11429"/>
            </a:avLst>
          </a:prstGeom>
          <a:solidFill>
            <a:srgbClr val="E8F4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F6C9B2-36A1-475B-9149-A39F90D454CA}"/>
              </a:ext>
            </a:extLst>
          </p:cNvPr>
          <p:cNvSpPr>
            <a:spLocks noGrp="1"/>
          </p:cNvSpPr>
          <p:nvPr/>
        </p:nvSpPr>
        <p:spPr>
          <a:xfrm>
            <a:off x="8248650" y="2133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75985"/>
                </a:solidFill>
              </a:defRPr>
            </a:pPr>
            <a:r>
              <a:rPr sz="1800" b="1">
                <a:solidFill>
                  <a:srgbClr val="075985"/>
                </a:solidFill>
              </a:rPr>
              <a:t>Operations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757256-FF7B-47E6-A591-73D34FDF8F68}"/>
              </a:ext>
            </a:extLst>
          </p:cNvPr>
          <p:cNvSpPr>
            <a:spLocks noGrp="1"/>
          </p:cNvSpPr>
          <p:nvPr/>
        </p:nvSpPr>
        <p:spPr>
          <a:xfrm>
            <a:off x="8248650" y="25527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3657A"/>
                </a:solidFill>
              </a:defRPr>
            </a:pPr>
            <a:r>
              <a:rPr sz="1275" b="0">
                <a:solidFill>
                  <a:srgbClr val="53657A"/>
                </a:solidFill>
              </a:rPr>
              <a:t>Sales, payments, customers, credit, transactions, reports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7A8F05D-D8CB-41FD-AB45-E01E7CB96CE2}"/>
              </a:ext>
            </a:extLst>
          </p:cNvPr>
          <p:cNvSpPr>
            <a:spLocks noGrp="1"/>
          </p:cNvSpPr>
          <p:nvPr/>
        </p:nvSpPr>
        <p:spPr>
          <a:xfrm>
            <a:off x="2476500" y="4000500"/>
            <a:ext cx="3143250" cy="1333500"/>
          </a:xfrm>
          <a:prstGeom prst="roundRect">
            <a:avLst>
              <a:gd name="adj" fmla="val 11429"/>
            </a:avLst>
          </a:prstGeom>
          <a:solidFill>
            <a:srgbClr val="EAF8E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01F489-7AFF-410C-A241-C75FF47B119E}"/>
              </a:ext>
            </a:extLst>
          </p:cNvPr>
          <p:cNvSpPr>
            <a:spLocks noGrp="1"/>
          </p:cNvSpPr>
          <p:nvPr/>
        </p:nvSpPr>
        <p:spPr>
          <a:xfrm>
            <a:off x="2686050" y="42481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8C4A"/>
                </a:solidFill>
              </a:defRPr>
            </a:pPr>
            <a:r>
              <a:rPr sz="1800" b="1">
                <a:solidFill>
                  <a:srgbClr val="008C4A"/>
                </a:solidFill>
              </a:rPr>
              <a:t>Team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D023A7-8638-4DFB-ABA6-2CDAFD6C6179}"/>
              </a:ext>
            </a:extLst>
          </p:cNvPr>
          <p:cNvSpPr>
            <a:spLocks noGrp="1"/>
          </p:cNvSpPr>
          <p:nvPr/>
        </p:nvSpPr>
        <p:spPr>
          <a:xfrm>
            <a:off x="2686050" y="466725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3657A"/>
                </a:solidFill>
              </a:defRPr>
            </a:pPr>
            <a:r>
              <a:rPr sz="1275" b="0">
                <a:solidFill>
                  <a:srgbClr val="53657A"/>
                </a:solidFill>
              </a:rPr>
              <a:t>Employees, roles, permissions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0BD72DF-CB09-451C-9835-A0FABFE3BE47}"/>
              </a:ext>
            </a:extLst>
          </p:cNvPr>
          <p:cNvSpPr>
            <a:spLocks noGrp="1"/>
          </p:cNvSpPr>
          <p:nvPr/>
        </p:nvSpPr>
        <p:spPr>
          <a:xfrm>
            <a:off x="6191250" y="4000500"/>
            <a:ext cx="3143250" cy="1333500"/>
          </a:xfrm>
          <a:prstGeom prst="roundRect">
            <a:avLst>
              <a:gd name="adj" fmla="val 11429"/>
            </a:avLst>
          </a:prstGeom>
          <a:solidFill>
            <a:srgbClr val="E8F4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0AD07C-A407-4DC7-ACD7-75DAA87B2901}"/>
              </a:ext>
            </a:extLst>
          </p:cNvPr>
          <p:cNvSpPr>
            <a:spLocks noGrp="1"/>
          </p:cNvSpPr>
          <p:nvPr/>
        </p:nvSpPr>
        <p:spPr>
          <a:xfrm>
            <a:off x="6400800" y="42481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75985"/>
                </a:solidFill>
              </a:defRPr>
            </a:pPr>
            <a:r>
              <a:rPr sz="1800" b="1">
                <a:solidFill>
                  <a:srgbClr val="075985"/>
                </a:solidFill>
              </a:rPr>
              <a:t>Settings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F6AE85-3DC6-4C9F-8AC7-A97188BDC820}"/>
              </a:ext>
            </a:extLst>
          </p:cNvPr>
          <p:cNvSpPr>
            <a:spLocks noGrp="1"/>
          </p:cNvSpPr>
          <p:nvPr/>
        </p:nvSpPr>
        <p:spPr>
          <a:xfrm>
            <a:off x="6400800" y="466725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3657A"/>
                </a:solidFill>
              </a:defRPr>
            </a:pPr>
            <a:r>
              <a:rPr sz="1275" b="0">
                <a:solidFill>
                  <a:srgbClr val="53657A"/>
                </a:solidFill>
              </a:rPr>
              <a:t>Profile, business, appearance, plan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D31233-E2B2-48B6-9DFB-5447FEEC092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672A41-C560-4384-8092-DCD3D9B82BAB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90530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BA9D431-3033-40F7-B47E-32ED39FDC84B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Catalog and inventory create the product source of truth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20AFB7-73F8-4208-B859-0BED12013E28}"/>
              </a:ext>
            </a:extLst>
          </p:cNvPr>
          <p:cNvSpPr>
            <a:spLocks noGrp="1"/>
          </p:cNvSpPr>
          <p:nvPr/>
        </p:nvSpPr>
        <p:spPr>
          <a:xfrm>
            <a:off x="688258" y="1377745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Products are simplified while inventory batches carry cost, selling price, expiry, stock health, and FIFO movement.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l="14474" r="14474"/>
          <a:stretch>
            <a:fillRect/>
          </a:stretch>
        </p:blipFill>
        <p:spPr>
          <a:xfrm>
            <a:off x="7239000" y="1619250"/>
            <a:ext cx="3429000" cy="3619500"/>
          </a:xfrm>
          <a:prstGeom prst="roundRect">
            <a:avLst>
              <a:gd name="adj" fmla="val 4444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550F95A-7E78-4CD9-8648-195AC36566B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5905500" cy="3543300"/>
          </a:xfrm>
          <a:prstGeom prst="roundRect">
            <a:avLst>
              <a:gd name="adj" fmla="val 4301"/>
            </a:avLst>
          </a:prstGeom>
          <a:solidFill>
            <a:srgbClr val="FFFFFF">
              <a:alpha val="94118"/>
            </a:srgbClr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B1BDFF-366F-4FBE-8B37-2854C63FFFBC}"/>
              </a:ext>
            </a:extLst>
          </p:cNvPr>
          <p:cNvSpPr>
            <a:spLocks noGrp="1"/>
          </p:cNvSpPr>
          <p:nvPr/>
        </p:nvSpPr>
        <p:spPr>
          <a:xfrm>
            <a:off x="971550" y="2095500"/>
            <a:ext cx="5334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Categories are created before products for clean reporting.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Product barcode and QR labels are generated automatically.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Restocks create batch and lot records with unit cost and selling price.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Sales consume stock FIFO, oldest batch first.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Inventory cards show stock health, available stock, and batch breakdown.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1A2860-2101-4E46-97F9-B58AE6C941B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4DA6DF-1E91-4D95-A13D-E6EE9E3D6959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12935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2F5E533-8F54-4DFD-8263-2C45C76FD5CA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The POS connects sales, stock, payments, credit, and receipts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D4316E-6A14-42A9-A02E-7783AA08FF7A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A sale is not just a record; it updates inventory, payment history, customer credit, receipt QR, and reports.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2DB07B-32D9-49AF-A4B6-887EB09EABC0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3905250" cy="914400"/>
          </a:xfrm>
          <a:prstGeom prst="roundRect">
            <a:avLst>
              <a:gd name="adj" fmla="val 16667"/>
            </a:avLst>
          </a:prstGeom>
          <a:solidFill>
            <a:srgbClr val="EAF8E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D29D64-4B7E-47C2-9964-6024EC8A342E}"/>
              </a:ext>
            </a:extLst>
          </p:cNvPr>
          <p:cNvSpPr>
            <a:spLocks noGrp="1"/>
          </p:cNvSpPr>
          <p:nvPr/>
        </p:nvSpPr>
        <p:spPr>
          <a:xfrm>
            <a:off x="914400" y="20193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8C4A"/>
                </a:solidFill>
              </a:defRPr>
            </a:pPr>
            <a:r>
              <a:rPr sz="1800" b="1">
                <a:solidFill>
                  <a:srgbClr val="008C4A"/>
                </a:solidFill>
              </a:rPr>
              <a:t>Cart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D69851-5C60-420A-A9FD-9DCE5775E157}"/>
              </a:ext>
            </a:extLst>
          </p:cNvPr>
          <p:cNvSpPr>
            <a:spLocks noGrp="1"/>
          </p:cNvSpPr>
          <p:nvPr/>
        </p:nvSpPr>
        <p:spPr>
          <a:xfrm>
            <a:off x="2476500" y="20574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Products added from catalog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9BE117-7954-4588-97BF-5ACD4A3BE944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3905250" cy="914400"/>
          </a:xfrm>
          <a:prstGeom prst="roundRect">
            <a:avLst>
              <a:gd name="adj" fmla="val 16667"/>
            </a:avLst>
          </a:prstGeom>
          <a:solidFill>
            <a:srgbClr val="E8F4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98B5B1-59E4-49F1-AA92-0509D6E9E79E}"/>
              </a:ext>
            </a:extLst>
          </p:cNvPr>
          <p:cNvSpPr>
            <a:spLocks noGrp="1"/>
          </p:cNvSpPr>
          <p:nvPr/>
        </p:nvSpPr>
        <p:spPr>
          <a:xfrm>
            <a:off x="914400" y="32385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75985"/>
                </a:solidFill>
              </a:defRPr>
            </a:pPr>
            <a:r>
              <a:rPr sz="1800" b="1">
                <a:solidFill>
                  <a:srgbClr val="075985"/>
                </a:solidFill>
              </a:rPr>
              <a:t>Checkout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CF0981-1CA4-4CB5-A1D2-46DCB2550E38}"/>
              </a:ext>
            </a:extLst>
          </p:cNvPr>
          <p:cNvSpPr>
            <a:spLocks noGrp="1"/>
          </p:cNvSpPr>
          <p:nvPr/>
        </p:nvSpPr>
        <p:spPr>
          <a:xfrm>
            <a:off x="2476500" y="32766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Cash, wallet, account, and credit split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4172D4D-BFA8-4B39-A297-FD23814B6BD7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3905250" cy="914400"/>
          </a:xfrm>
          <a:prstGeom prst="roundRect">
            <a:avLst>
              <a:gd name="adj" fmla="val 16667"/>
            </a:avLst>
          </a:prstGeom>
          <a:solidFill>
            <a:srgbClr val="FFF7E2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9E8B4A-D421-4252-9F4B-588CBCBD1880}"/>
              </a:ext>
            </a:extLst>
          </p:cNvPr>
          <p:cNvSpPr>
            <a:spLocks noGrp="1"/>
          </p:cNvSpPr>
          <p:nvPr/>
        </p:nvSpPr>
        <p:spPr>
          <a:xfrm>
            <a:off x="914400" y="44577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A16207"/>
                </a:solidFill>
              </a:defRPr>
            </a:pPr>
            <a:r>
              <a:rPr sz="1800" b="1">
                <a:solidFill>
                  <a:srgbClr val="A16207"/>
                </a:solidFill>
              </a:rPr>
              <a:t>Receipt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FCE5A0-A6D1-49E8-AAF3-507892901579}"/>
              </a:ext>
            </a:extLst>
          </p:cNvPr>
          <p:cNvSpPr>
            <a:spLocks noGrp="1"/>
          </p:cNvSpPr>
          <p:nvPr/>
        </p:nvSpPr>
        <p:spPr>
          <a:xfrm>
            <a:off x="2476500" y="44958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Invoice, payment breakdown, QR verification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8FA56F-E23E-47E1-A96D-6022FBC6AFC8}"/>
              </a:ext>
            </a:extLst>
          </p:cNvPr>
          <p:cNvSpPr>
            <a:spLocks noGrp="1"/>
          </p:cNvSpPr>
          <p:nvPr/>
        </p:nvSpPr>
        <p:spPr>
          <a:xfrm>
            <a:off x="5334000" y="1790700"/>
            <a:ext cx="5715000" cy="33528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EB60D7-A3F3-4184-BABF-ECC96478A523}"/>
              </a:ext>
            </a:extLst>
          </p:cNvPr>
          <p:cNvSpPr>
            <a:spLocks noGrp="1"/>
          </p:cNvSpPr>
          <p:nvPr/>
        </p:nvSpPr>
        <p:spPr>
          <a:xfrm>
            <a:off x="5676900" y="20955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92033"/>
                </a:solidFill>
              </a:defRPr>
            </a:pPr>
            <a:r>
              <a:rPr sz="2100" b="1">
                <a:solidFill>
                  <a:srgbClr val="092033"/>
                </a:solidFill>
              </a:rPr>
              <a:t>Payment methods now supported in POS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1DBC19C-A1C3-4847-BE1F-C21D8567DF9E}"/>
              </a:ext>
            </a:extLst>
          </p:cNvPr>
          <p:cNvSpPr>
            <a:spLocks noGrp="1"/>
          </p:cNvSpPr>
          <p:nvPr/>
        </p:nvSpPr>
        <p:spPr>
          <a:xfrm>
            <a:off x="5676900" y="2724150"/>
            <a:ext cx="1314450" cy="590550"/>
          </a:xfrm>
          <a:prstGeom prst="roundRect">
            <a:avLst>
              <a:gd name="adj" fmla="val 19355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67944B-07CB-4376-8514-08AE9B46D112}"/>
              </a:ext>
            </a:extLst>
          </p:cNvPr>
          <p:cNvSpPr>
            <a:spLocks noGrp="1"/>
          </p:cNvSpPr>
          <p:nvPr/>
        </p:nvSpPr>
        <p:spPr>
          <a:xfrm>
            <a:off x="5829300" y="29241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Cash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8BF142B-1E49-43F8-B582-ADC0458E37FB}"/>
              </a:ext>
            </a:extLst>
          </p:cNvPr>
          <p:cNvSpPr>
            <a:spLocks noGrp="1"/>
          </p:cNvSpPr>
          <p:nvPr/>
        </p:nvSpPr>
        <p:spPr>
          <a:xfrm>
            <a:off x="7296150" y="2724150"/>
            <a:ext cx="1314450" cy="590550"/>
          </a:xfrm>
          <a:prstGeom prst="roundRect">
            <a:avLst>
              <a:gd name="adj" fmla="val 19355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10450" y="2897010"/>
            <a:ext cx="400050" cy="206730"/>
          </a:xfrm>
          <a:prstGeom prst="roundRect">
            <a:avLst>
              <a:gd name="adj" fmla="val 17647"/>
            </a:avLst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CB95F7B-DE22-4974-8D70-1AE362BEDE82}"/>
              </a:ext>
            </a:extLst>
          </p:cNvPr>
          <p:cNvSpPr>
            <a:spLocks noGrp="1"/>
          </p:cNvSpPr>
          <p:nvPr/>
        </p:nvSpPr>
        <p:spPr>
          <a:xfrm>
            <a:off x="7886700" y="29241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Telebirr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8A5F6DE-F9EF-4914-97FC-C06833429FED}"/>
              </a:ext>
            </a:extLst>
          </p:cNvPr>
          <p:cNvSpPr>
            <a:spLocks noGrp="1"/>
          </p:cNvSpPr>
          <p:nvPr/>
        </p:nvSpPr>
        <p:spPr>
          <a:xfrm>
            <a:off x="8915400" y="2724150"/>
            <a:ext cx="1314450" cy="590550"/>
          </a:xfrm>
          <a:prstGeom prst="roundRect">
            <a:avLst>
              <a:gd name="adj" fmla="val 19355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029700" y="2888047"/>
            <a:ext cx="400050" cy="224656"/>
          </a:xfrm>
          <a:prstGeom prst="roundRect">
            <a:avLst>
              <a:gd name="adj" fmla="val 17647"/>
            </a:avLst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D1FFB32-3EC5-4712-9137-9B00FC0AF27A}"/>
              </a:ext>
            </a:extLst>
          </p:cNvPr>
          <p:cNvSpPr>
            <a:spLocks noGrp="1"/>
          </p:cNvSpPr>
          <p:nvPr/>
        </p:nvSpPr>
        <p:spPr>
          <a:xfrm>
            <a:off x="9505950" y="29241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M-Pesa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DAB996A-0CCE-49D9-BEBD-64D55B8EABA6}"/>
              </a:ext>
            </a:extLst>
          </p:cNvPr>
          <p:cNvSpPr>
            <a:spLocks noGrp="1"/>
          </p:cNvSpPr>
          <p:nvPr/>
        </p:nvSpPr>
        <p:spPr>
          <a:xfrm>
            <a:off x="5676900" y="3600450"/>
            <a:ext cx="1314450" cy="590550"/>
          </a:xfrm>
          <a:prstGeom prst="roundRect">
            <a:avLst>
              <a:gd name="adj" fmla="val 19355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791200" y="3738077"/>
            <a:ext cx="400050" cy="277197"/>
          </a:xfrm>
          <a:prstGeom prst="roundRect">
            <a:avLst>
              <a:gd name="adj" fmla="val 17647"/>
            </a:avLst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05648EC-D3F0-4D14-9DF9-62367BC5C3CA}"/>
              </a:ext>
            </a:extLst>
          </p:cNvPr>
          <p:cNvSpPr>
            <a:spLocks noGrp="1"/>
          </p:cNvSpPr>
          <p:nvPr/>
        </p:nvSpPr>
        <p:spPr>
          <a:xfrm>
            <a:off x="6267450" y="38004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CBE Birr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A9D57D2-5EEC-4CAB-BC7F-ABFEF03D1953}"/>
              </a:ext>
            </a:extLst>
          </p:cNvPr>
          <p:cNvSpPr>
            <a:spLocks noGrp="1"/>
          </p:cNvSpPr>
          <p:nvPr/>
        </p:nvSpPr>
        <p:spPr>
          <a:xfrm>
            <a:off x="7296150" y="3600450"/>
            <a:ext cx="1314450" cy="590550"/>
          </a:xfrm>
          <a:prstGeom prst="roundRect">
            <a:avLst>
              <a:gd name="adj" fmla="val 19355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48550" y="3714750"/>
            <a:ext cx="323850" cy="323850"/>
          </a:xfrm>
          <a:prstGeom prst="roundRect">
            <a:avLst>
              <a:gd name="adj" fmla="val 17647"/>
            </a:avLst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44F0F55-0C05-44B1-BF31-590461501C88}"/>
              </a:ext>
            </a:extLst>
          </p:cNvPr>
          <p:cNvSpPr>
            <a:spLocks noGrp="1"/>
          </p:cNvSpPr>
          <p:nvPr/>
        </p:nvSpPr>
        <p:spPr>
          <a:xfrm>
            <a:off x="7886700" y="38004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Apollo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9B7252B-7757-4A16-AFEB-2BCC83E01D25}"/>
              </a:ext>
            </a:extLst>
          </p:cNvPr>
          <p:cNvSpPr>
            <a:spLocks noGrp="1"/>
          </p:cNvSpPr>
          <p:nvPr/>
        </p:nvSpPr>
        <p:spPr>
          <a:xfrm>
            <a:off x="8915400" y="3600450"/>
            <a:ext cx="1314450" cy="590550"/>
          </a:xfrm>
          <a:prstGeom prst="roundRect">
            <a:avLst>
              <a:gd name="adj" fmla="val 19355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E6E0FB-1908-4AFF-B3A0-29AE62C8F756}"/>
              </a:ext>
            </a:extLst>
          </p:cNvPr>
          <p:cNvSpPr>
            <a:spLocks noGrp="1"/>
          </p:cNvSpPr>
          <p:nvPr/>
        </p:nvSpPr>
        <p:spPr>
          <a:xfrm>
            <a:off x="9067800" y="38004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Credit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4D8926-2092-43CD-91BC-AC553177B49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053E593-987E-42B1-9D41-EA73ECBD748B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83185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B4810F0-F30E-4471-9C15-EF891C510686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Customer logic combines identity, credit, and loyalty behavior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3B8B10-1657-401B-B5B3-87DF98161380}"/>
              </a:ext>
            </a:extLst>
          </p:cNvPr>
          <p:cNvSpPr>
            <a:spLocks noGrp="1"/>
          </p:cNvSpPr>
          <p:nvPr/>
        </p:nvSpPr>
        <p:spPr>
          <a:xfrm>
            <a:off x="514351" y="1476375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Customers can be individuals, companies, or government accounts, with credit and discount logic derived from real activity.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FA40E0F-2539-4D52-9630-6F6594E7A35E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2857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075985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4D2048-4B25-4280-996F-97C652DDF04F}"/>
              </a:ext>
            </a:extLst>
          </p:cNvPr>
          <p:cNvSpPr>
            <a:spLocks noGrp="1"/>
          </p:cNvSpPr>
          <p:nvPr/>
        </p:nvSpPr>
        <p:spPr>
          <a:xfrm>
            <a:off x="819150" y="207645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75985"/>
                </a:solidFill>
              </a:defRPr>
            </a:pPr>
            <a:r>
              <a:rPr sz="2100" b="1">
                <a:solidFill>
                  <a:srgbClr val="075985"/>
                </a:solidFill>
              </a:rPr>
              <a:t>3 types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F58A8D-4D54-4CC5-8822-505E6CC62BB8}"/>
              </a:ext>
            </a:extLst>
          </p:cNvPr>
          <p:cNvSpPr>
            <a:spLocks noGrp="1"/>
          </p:cNvSpPr>
          <p:nvPr/>
        </p:nvSpPr>
        <p:spPr>
          <a:xfrm>
            <a:off x="819150" y="2486025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Flexible customer identity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5D2C19-AE80-4E96-A06B-105616F06D49}"/>
              </a:ext>
            </a:extLst>
          </p:cNvPr>
          <p:cNvSpPr>
            <a:spLocks noGrp="1"/>
          </p:cNvSpPr>
          <p:nvPr/>
        </p:nvSpPr>
        <p:spPr>
          <a:xfrm>
            <a:off x="3905250" y="1847850"/>
            <a:ext cx="2857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008C4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1275DE-E148-4722-960C-D39BB80BF753}"/>
              </a:ext>
            </a:extLst>
          </p:cNvPr>
          <p:cNvSpPr>
            <a:spLocks noGrp="1"/>
          </p:cNvSpPr>
          <p:nvPr/>
        </p:nvSpPr>
        <p:spPr>
          <a:xfrm>
            <a:off x="4114800" y="207645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8C4A"/>
                </a:solidFill>
              </a:defRPr>
            </a:pPr>
            <a:r>
              <a:rPr sz="2100" b="1">
                <a:solidFill>
                  <a:srgbClr val="008C4A"/>
                </a:solidFill>
              </a:rPr>
              <a:t>0 ETB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96E902-68BE-4104-A0DB-27B91DA17587}"/>
              </a:ext>
            </a:extLst>
          </p:cNvPr>
          <p:cNvSpPr>
            <a:spLocks noGrp="1"/>
          </p:cNvSpPr>
          <p:nvPr/>
        </p:nvSpPr>
        <p:spPr>
          <a:xfrm>
            <a:off x="4114800" y="2486025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Credit starts safely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20BB88B-C2A5-440A-A85B-A17FD29DB769}"/>
              </a:ext>
            </a:extLst>
          </p:cNvPr>
          <p:cNvSpPr>
            <a:spLocks noGrp="1"/>
          </p:cNvSpPr>
          <p:nvPr/>
        </p:nvSpPr>
        <p:spPr>
          <a:xfrm>
            <a:off x="7200900" y="1847850"/>
            <a:ext cx="2857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B4235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7E8573-470D-49BD-88B6-565690A90551}"/>
              </a:ext>
            </a:extLst>
          </p:cNvPr>
          <p:cNvSpPr>
            <a:spLocks noGrp="1"/>
          </p:cNvSpPr>
          <p:nvPr/>
        </p:nvSpPr>
        <p:spPr>
          <a:xfrm>
            <a:off x="7410450" y="207645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4235A"/>
                </a:solidFill>
              </a:defRPr>
            </a:pPr>
            <a:r>
              <a:rPr sz="2100" b="1">
                <a:solidFill>
                  <a:srgbClr val="B4235A"/>
                </a:solidFill>
              </a:rPr>
              <a:t>Rules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AE4CA3-FD19-44AF-81AB-672B835F016A}"/>
              </a:ext>
            </a:extLst>
          </p:cNvPr>
          <p:cNvSpPr>
            <a:spLocks noGrp="1"/>
          </p:cNvSpPr>
          <p:nvPr/>
        </p:nvSpPr>
        <p:spPr>
          <a:xfrm>
            <a:off x="7410450" y="2486025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Discounts can be automatic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1EC075-B899-4979-95F7-494C62A47B31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990600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027CFF-E902-48CC-9B64-8BCA177FCC8C}"/>
              </a:ext>
            </a:extLst>
          </p:cNvPr>
          <p:cNvSpPr>
            <a:spLocks noGrp="1"/>
          </p:cNvSpPr>
          <p:nvPr/>
        </p:nvSpPr>
        <p:spPr>
          <a:xfrm>
            <a:off x="1009650" y="39433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92033"/>
                </a:solidFill>
              </a:defRPr>
            </a:pPr>
            <a:r>
              <a:rPr sz="1800" b="1">
                <a:solidFill>
                  <a:srgbClr val="092033"/>
                </a:solidFill>
              </a:rPr>
              <a:t>The owner can define spend-based discounts and override credit limits, while the system suggests limits from purchase and payment behavior.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AF5947-4FAA-4A37-986A-C3291C80A69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34F823-1FDE-40DE-937D-000779ED9D0E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55447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6C25F8-686C-407B-8B54-1D92226999B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Transactions unify money movement into one 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0B724-D7BC-45E2-81C9-8C3B32181FCD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Expense and revenue history are easier to understand when they are shown together and separately.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609600" y="1866900"/>
          <a:ext cx="504825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FF3041-00A8-4164-9517-CE16EF03C9EE}"/>
              </a:ext>
            </a:extLst>
          </p:cNvPr>
          <p:cNvSpPr>
            <a:spLocks noGrp="1"/>
          </p:cNvSpPr>
          <p:nvPr/>
        </p:nvSpPr>
        <p:spPr>
          <a:xfrm>
            <a:off x="6572250" y="1885950"/>
            <a:ext cx="4000500" cy="28575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EAF9F5-1722-47FF-BD2A-9F6BBA207C6F}"/>
              </a:ext>
            </a:extLst>
          </p:cNvPr>
          <p:cNvSpPr>
            <a:spLocks noGrp="1"/>
          </p:cNvSpPr>
          <p:nvPr/>
        </p:nvSpPr>
        <p:spPr>
          <a:xfrm>
            <a:off x="6934200" y="2286000"/>
            <a:ext cx="33718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Manual expenses remain supported.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Restock expenses are generated automatically.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Payroll expenses can be scheduled.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Reports can filter by transaction source.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02F633-A107-42D0-8116-0E99800981E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FE3DA7-882A-4511-924F-31DB3464B216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0386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6FE99C8-95E4-407B-A427-52271253A549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Reporting turns operational records into owner decisions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21A7D5-055F-4C5F-B8AA-9DF1566CEEFC}"/>
              </a:ext>
            </a:extLst>
          </p:cNvPr>
          <p:cNvSpPr>
            <a:spLocks noGrp="1"/>
          </p:cNvSpPr>
          <p:nvPr/>
        </p:nvSpPr>
        <p:spPr>
          <a:xfrm>
            <a:off x="609600" y="1415538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Reports combine sales, inventory, product performance, credit, expenses, and profit analytics.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FB50CA5-2D44-4A0E-9CA6-9132DA741362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3238500" cy="32385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F9D08C-A63C-41AB-B2D0-C39D045ABCF7}"/>
              </a:ext>
            </a:extLst>
          </p:cNvPr>
          <p:cNvSpPr>
            <a:spLocks noGrp="1"/>
          </p:cNvSpPr>
          <p:nvPr/>
        </p:nvSpPr>
        <p:spPr>
          <a:xfrm>
            <a:off x="952500" y="20574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75985"/>
                </a:solidFill>
              </a:defRPr>
            </a:pPr>
            <a:r>
              <a:rPr sz="1950" b="1">
                <a:solidFill>
                  <a:srgbClr val="075985"/>
                </a:solidFill>
              </a:rPr>
              <a:t>Reports answer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955304-4CE1-40A3-9E35-B20FD92AF0E2}"/>
              </a:ext>
            </a:extLst>
          </p:cNvPr>
          <p:cNvSpPr>
            <a:spLocks noGrp="1"/>
          </p:cNvSpPr>
          <p:nvPr/>
        </p:nvSpPr>
        <p:spPr>
          <a:xfrm>
            <a:off x="952500" y="2609850"/>
            <a:ext cx="25717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Which products sell best?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Which items are stagnant?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What is real product profit?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Where is money going?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Which customers carry credit?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4572000" y="1809750"/>
          <a:ext cx="581025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2189736-75CA-415C-947F-F7D9DF36F54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803C8F-F745-455B-8E4C-D4232F72B6A0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26703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30E24B0-0DE0-44BE-B1B4-BEF787463A35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Super admin manages the platform, not each owner’s business choices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13A06E-4198-4F6E-B9E0-E0D0B0C027A3}"/>
              </a:ext>
            </a:extLst>
          </p:cNvPr>
          <p:cNvSpPr>
            <a:spLocks noGrp="1"/>
          </p:cNvSpPr>
          <p:nvPr/>
        </p:nvSpPr>
        <p:spPr>
          <a:xfrm>
            <a:off x="466725" y="144780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The super admin monitors platform health, subscriptions, businesses, users, inbox, notifications, and audit explorer.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3B68EA4-548D-4B09-9BB1-D6A2BC2ACC10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075985">
              <a:alpha val="7843"/>
            </a:srgbClr>
          </a:solidFill>
          <a:ln w="9525">
            <a:solidFill>
              <a:srgbClr val="075985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AB05A1-120D-4341-8848-237AB7D14A81}"/>
              </a:ext>
            </a:extLst>
          </p:cNvPr>
          <p:cNvSpPr>
            <a:spLocks noGrp="1"/>
          </p:cNvSpPr>
          <p:nvPr/>
        </p:nvSpPr>
        <p:spPr>
          <a:xfrm>
            <a:off x="819150" y="22288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75985"/>
                </a:solidFill>
              </a:defRPr>
            </a:pPr>
            <a:r>
              <a:rPr sz="1650" b="1">
                <a:solidFill>
                  <a:srgbClr val="075985"/>
                </a:solidFill>
              </a:rPr>
              <a:t>Platform dashboard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1E3A637-9D1C-462A-86EB-F23D9AC38154}"/>
              </a:ext>
            </a:extLst>
          </p:cNvPr>
          <p:cNvSpPr>
            <a:spLocks noGrp="1"/>
          </p:cNvSpPr>
          <p:nvPr/>
        </p:nvSpPr>
        <p:spPr>
          <a:xfrm>
            <a:off x="4229100" y="188595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008C4A">
              <a:alpha val="7843"/>
            </a:srgbClr>
          </a:solidFill>
          <a:ln w="9525">
            <a:solidFill>
              <a:srgbClr val="008C4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22384E-A0BA-4626-88A9-0386ADAE7DB7}"/>
              </a:ext>
            </a:extLst>
          </p:cNvPr>
          <p:cNvSpPr>
            <a:spLocks noGrp="1"/>
          </p:cNvSpPr>
          <p:nvPr/>
        </p:nvSpPr>
        <p:spPr>
          <a:xfrm>
            <a:off x="4438650" y="22288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8C4A"/>
                </a:solidFill>
              </a:defRPr>
            </a:pPr>
            <a:r>
              <a:rPr sz="1650" b="1">
                <a:solidFill>
                  <a:srgbClr val="008C4A"/>
                </a:solidFill>
              </a:rPr>
              <a:t>Business directory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E3A0BB-A533-4812-88A5-F28EF46EAB49}"/>
              </a:ext>
            </a:extLst>
          </p:cNvPr>
          <p:cNvSpPr>
            <a:spLocks noGrp="1"/>
          </p:cNvSpPr>
          <p:nvPr/>
        </p:nvSpPr>
        <p:spPr>
          <a:xfrm>
            <a:off x="7848600" y="188595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B4235A">
              <a:alpha val="7843"/>
            </a:srgbClr>
          </a:solidFill>
          <a:ln w="9525">
            <a:solidFill>
              <a:srgbClr val="B4235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7DB923-A341-4778-93B5-D65942857A7A}"/>
              </a:ext>
            </a:extLst>
          </p:cNvPr>
          <p:cNvSpPr>
            <a:spLocks noGrp="1"/>
          </p:cNvSpPr>
          <p:nvPr/>
        </p:nvSpPr>
        <p:spPr>
          <a:xfrm>
            <a:off x="8058150" y="22288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B4235A"/>
                </a:solidFill>
              </a:defRPr>
            </a:pPr>
            <a:r>
              <a:rPr sz="1650" b="1">
                <a:solidFill>
                  <a:srgbClr val="B4235A"/>
                </a:solidFill>
              </a:rPr>
              <a:t>Users and account status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58C9FB-CB55-4B27-804E-2D2F239EC86B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F5B942">
              <a:alpha val="7843"/>
            </a:srgbClr>
          </a:solidFill>
          <a:ln w="9525">
            <a:solidFill>
              <a:srgbClr val="F5B942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526680-D66B-4C47-91A6-A5D9BEE833C2}"/>
              </a:ext>
            </a:extLst>
          </p:cNvPr>
          <p:cNvSpPr>
            <a:spLocks noGrp="1"/>
          </p:cNvSpPr>
          <p:nvPr/>
        </p:nvSpPr>
        <p:spPr>
          <a:xfrm>
            <a:off x="819150" y="36576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5B942"/>
                </a:solidFill>
              </a:defRPr>
            </a:pPr>
            <a:r>
              <a:rPr sz="1650" b="1">
                <a:solidFill>
                  <a:srgbClr val="F5B942"/>
                </a:solidFill>
              </a:rPr>
              <a:t>System health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9295821-7D82-4F20-8846-F4B1D827955C}"/>
              </a:ext>
            </a:extLst>
          </p:cNvPr>
          <p:cNvSpPr>
            <a:spLocks noGrp="1"/>
          </p:cNvSpPr>
          <p:nvPr/>
        </p:nvSpPr>
        <p:spPr>
          <a:xfrm>
            <a:off x="4229100" y="331470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0F766E">
              <a:alpha val="7843"/>
            </a:srgbClr>
          </a:solidFill>
          <a:ln w="9525">
            <a:solidFill>
              <a:srgbClr val="0F766E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B85637-CFB3-41B8-93C8-80A97BF94F4E}"/>
              </a:ext>
            </a:extLst>
          </p:cNvPr>
          <p:cNvSpPr>
            <a:spLocks noGrp="1"/>
          </p:cNvSpPr>
          <p:nvPr/>
        </p:nvSpPr>
        <p:spPr>
          <a:xfrm>
            <a:off x="4438650" y="36576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Inbox and notifications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0490189-216C-41F1-905C-201FEC5EB9BD}"/>
              </a:ext>
            </a:extLst>
          </p:cNvPr>
          <p:cNvSpPr>
            <a:spLocks noGrp="1"/>
          </p:cNvSpPr>
          <p:nvPr/>
        </p:nvSpPr>
        <p:spPr>
          <a:xfrm>
            <a:off x="7848600" y="331470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7C3AED">
              <a:alpha val="7843"/>
            </a:srgbClr>
          </a:solidFill>
          <a:ln w="9525">
            <a:solidFill>
              <a:srgbClr val="7C3AED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638CBB-BBEB-4BC0-9B3C-1CFC3CC95C60}"/>
              </a:ext>
            </a:extLst>
          </p:cNvPr>
          <p:cNvSpPr>
            <a:spLocks noGrp="1"/>
          </p:cNvSpPr>
          <p:nvPr/>
        </p:nvSpPr>
        <p:spPr>
          <a:xfrm>
            <a:off x="8058150" y="36576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Audit explorer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9A4A1F-BC57-430A-A27E-5B6DFBEE16EC}"/>
              </a:ext>
            </a:extLst>
          </p:cNvPr>
          <p:cNvSpPr>
            <a:spLocks noGrp="1"/>
          </p:cNvSpPr>
          <p:nvPr/>
        </p:nvSpPr>
        <p:spPr>
          <a:xfrm>
            <a:off x="1333500" y="521970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92033"/>
                </a:solidFill>
              </a:defRPr>
            </a:pPr>
            <a:r>
              <a:rPr sz="1500" b="1">
                <a:solidFill>
                  <a:srgbClr val="092033"/>
                </a:solidFill>
              </a:rPr>
              <a:t>Plan changes belong to business owners through their subscription flow; the admin directory is display and oversight focused.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94323D-AB37-4B28-8EA0-E394C713D38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77DA85-4501-4AD5-8BF0-D0A7651A70A6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44203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BD0C53C-E61A-4505-851C-654A9D88EC38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The business model is subscription-led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7AFD3F-40A4-493C-805E-3509340BF560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BizTrack monetizes through recurring business subscriptions while payment gateways remain swappable integration points.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434A43F-20F7-4D4D-A9F2-F826C8DD2BD2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287000" cy="3429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7E22565-7210-41C8-9219-C35B8C8AE768}"/>
              </a:ext>
            </a:extLst>
          </p:cNvPr>
          <p:cNvSpPr>
            <a:spLocks noGrp="1"/>
          </p:cNvSpPr>
          <p:nvPr/>
        </p:nvSpPr>
        <p:spPr>
          <a:xfrm>
            <a:off x="1143000" y="2286000"/>
            <a:ext cx="2667000" cy="2000250"/>
          </a:xfrm>
          <a:prstGeom prst="roundRect">
            <a:avLst>
              <a:gd name="adj" fmla="val 7619"/>
            </a:avLst>
          </a:prstGeom>
          <a:solidFill>
            <a:srgbClr val="EAF8E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D74670-6469-4BD7-BF50-1F78BDD5F003}"/>
              </a:ext>
            </a:extLst>
          </p:cNvPr>
          <p:cNvSpPr>
            <a:spLocks noGrp="1"/>
          </p:cNvSpPr>
          <p:nvPr/>
        </p:nvSpPr>
        <p:spPr>
          <a:xfrm>
            <a:off x="1409700" y="26289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92033"/>
                </a:solidFill>
              </a:defRPr>
            </a:pPr>
            <a:r>
              <a:rPr sz="2100" b="1">
                <a:solidFill>
                  <a:srgbClr val="092033"/>
                </a:solidFill>
              </a:rPr>
              <a:t>Starter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859D86-4783-4061-98A9-38C1D96C118A}"/>
              </a:ext>
            </a:extLst>
          </p:cNvPr>
          <p:cNvSpPr>
            <a:spLocks noGrp="1"/>
          </p:cNvSpPr>
          <p:nvPr/>
        </p:nvSpPr>
        <p:spPr>
          <a:xfrm>
            <a:off x="1409700" y="316230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Trial / entry access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6C6DF0-A238-421D-8626-1EB8D965D016}"/>
              </a:ext>
            </a:extLst>
          </p:cNvPr>
          <p:cNvSpPr>
            <a:spLocks noGrp="1"/>
          </p:cNvSpPr>
          <p:nvPr/>
        </p:nvSpPr>
        <p:spPr>
          <a:xfrm>
            <a:off x="1409700" y="38290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Payment confirmation gates active access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8EDAA5-791B-489B-ABDE-B4373861BCA2}"/>
              </a:ext>
            </a:extLst>
          </p:cNvPr>
          <p:cNvSpPr>
            <a:spLocks noGrp="1"/>
          </p:cNvSpPr>
          <p:nvPr/>
        </p:nvSpPr>
        <p:spPr>
          <a:xfrm>
            <a:off x="4476750" y="2286000"/>
            <a:ext cx="2667000" cy="2000250"/>
          </a:xfrm>
          <a:prstGeom prst="roundRect">
            <a:avLst>
              <a:gd name="adj" fmla="val 7619"/>
            </a:avLst>
          </a:prstGeom>
          <a:solidFill>
            <a:srgbClr val="E8F4FF"/>
          </a:solidFill>
          <a:ln w="9525">
            <a:solidFill>
              <a:srgbClr val="008C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EC2236-A9B3-4BEA-B2CB-2886E8ABD56D}"/>
              </a:ext>
            </a:extLst>
          </p:cNvPr>
          <p:cNvSpPr>
            <a:spLocks noGrp="1"/>
          </p:cNvSpPr>
          <p:nvPr/>
        </p:nvSpPr>
        <p:spPr>
          <a:xfrm>
            <a:off x="4743450" y="26289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8C4A"/>
                </a:solidFill>
              </a:defRPr>
            </a:pPr>
            <a:r>
              <a:rPr sz="2100" b="1">
                <a:solidFill>
                  <a:srgbClr val="008C4A"/>
                </a:solidFill>
              </a:rPr>
              <a:t>Growth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E2666E-50FE-4344-8297-AB020B0FCC66}"/>
              </a:ext>
            </a:extLst>
          </p:cNvPr>
          <p:cNvSpPr>
            <a:spLocks noGrp="1"/>
          </p:cNvSpPr>
          <p:nvPr/>
        </p:nvSpPr>
        <p:spPr>
          <a:xfrm>
            <a:off x="4743450" y="316230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Paid plan for active operations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12911F-B553-4DE1-AEEB-81B118E79335}"/>
              </a:ext>
            </a:extLst>
          </p:cNvPr>
          <p:cNvSpPr>
            <a:spLocks noGrp="1"/>
          </p:cNvSpPr>
          <p:nvPr/>
        </p:nvSpPr>
        <p:spPr>
          <a:xfrm>
            <a:off x="4743450" y="38290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Payment confirmation gates active access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15857C7-D026-428D-967C-78DD2184F3EF}"/>
              </a:ext>
            </a:extLst>
          </p:cNvPr>
          <p:cNvSpPr>
            <a:spLocks noGrp="1"/>
          </p:cNvSpPr>
          <p:nvPr/>
        </p:nvSpPr>
        <p:spPr>
          <a:xfrm>
            <a:off x="7810500" y="2286000"/>
            <a:ext cx="2667000" cy="2000250"/>
          </a:xfrm>
          <a:prstGeom prst="roundRect">
            <a:avLst>
              <a:gd name="adj" fmla="val 7619"/>
            </a:avLst>
          </a:prstGeom>
          <a:solidFill>
            <a:srgbClr val="FFF7E2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84CE2-B8E5-4353-8203-C6C7747CF649}"/>
              </a:ext>
            </a:extLst>
          </p:cNvPr>
          <p:cNvSpPr>
            <a:spLocks noGrp="1"/>
          </p:cNvSpPr>
          <p:nvPr/>
        </p:nvSpPr>
        <p:spPr>
          <a:xfrm>
            <a:off x="8077200" y="26289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92033"/>
                </a:solidFill>
              </a:defRPr>
            </a:pPr>
            <a:r>
              <a:rPr sz="2100" b="1">
                <a:solidFill>
                  <a:srgbClr val="092033"/>
                </a:solidFill>
              </a:rPr>
              <a:t>Enterprise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8FDA57-4C12-4667-98FF-CED71A6821B0}"/>
              </a:ext>
            </a:extLst>
          </p:cNvPr>
          <p:cNvSpPr>
            <a:spLocks noGrp="1"/>
          </p:cNvSpPr>
          <p:nvPr/>
        </p:nvSpPr>
        <p:spPr>
          <a:xfrm>
            <a:off x="8077200" y="316230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Larger team and operational limits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222644-1315-4F70-B536-6C26E123AFBE}"/>
              </a:ext>
            </a:extLst>
          </p:cNvPr>
          <p:cNvSpPr>
            <a:spLocks noGrp="1"/>
          </p:cNvSpPr>
          <p:nvPr/>
        </p:nvSpPr>
        <p:spPr>
          <a:xfrm>
            <a:off x="8077200" y="38290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Payment confirmation gates active access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322BE8-C094-40B8-90A4-48EBF049E6B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1E546D-7C89-4FBA-B5A4-4E11B2167FDD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25111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D7580BE-95B4-464E-83E4-DC50E0A48F9A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Gateway design is demo-ready now and integration-ready later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3D1E0C-9B00-4938-ACB2-9CEDF02FD431}"/>
              </a:ext>
            </a:extLst>
          </p:cNvPr>
          <p:cNvSpPr>
            <a:spLocks noGrp="1"/>
          </p:cNvSpPr>
          <p:nvPr/>
        </p:nvSpPr>
        <p:spPr>
          <a:xfrm>
            <a:off x="662756" y="1587295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The UI already models real provider selection, customer references, confirmation, receipts, and ledger history.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D9928F-8754-4FBB-946B-4CD3A2A1C03B}"/>
              </a:ext>
            </a:extLst>
          </p:cNvPr>
          <p:cNvSpPr>
            <a:spLocks noGrp="1"/>
          </p:cNvSpPr>
          <p:nvPr/>
        </p:nvSpPr>
        <p:spPr>
          <a:xfrm>
            <a:off x="1333500" y="2095500"/>
            <a:ext cx="1809750" cy="1714500"/>
          </a:xfrm>
          <a:prstGeom prst="roundRect">
            <a:avLst>
              <a:gd name="adj" fmla="val 8889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62125" y="2430418"/>
            <a:ext cx="952500" cy="492214"/>
          </a:xfrm>
          <a:prstGeom prst="roundRect">
            <a:avLst>
              <a:gd name="adj" fmla="val 12903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A7CEFAC-57EE-4DE9-A16E-8DBBA2687C4F}"/>
              </a:ext>
            </a:extLst>
          </p:cNvPr>
          <p:cNvSpPr>
            <a:spLocks noGrp="1"/>
          </p:cNvSpPr>
          <p:nvPr/>
        </p:nvSpPr>
        <p:spPr>
          <a:xfrm>
            <a:off x="1562100" y="32385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92033"/>
                </a:solidFill>
              </a:defRPr>
            </a:pPr>
            <a:r>
              <a:rPr sz="1575" b="1">
                <a:solidFill>
                  <a:srgbClr val="092033"/>
                </a:solidFill>
              </a:rPr>
              <a:t>Telebirr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127818-CD18-40A5-BDF3-844ECAF5E975}"/>
              </a:ext>
            </a:extLst>
          </p:cNvPr>
          <p:cNvSpPr>
            <a:spLocks noGrp="1"/>
          </p:cNvSpPr>
          <p:nvPr/>
        </p:nvSpPr>
        <p:spPr>
          <a:xfrm>
            <a:off x="3714750" y="2095500"/>
            <a:ext cx="1809750" cy="1714500"/>
          </a:xfrm>
          <a:prstGeom prst="roundRect">
            <a:avLst>
              <a:gd name="adj" fmla="val 8889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143375" y="2409077"/>
            <a:ext cx="952500" cy="534895"/>
          </a:xfrm>
          <a:prstGeom prst="roundRect">
            <a:avLst>
              <a:gd name="adj" fmla="val 12903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2F6039F-1240-4299-8A26-C69EC81FDD50}"/>
              </a:ext>
            </a:extLst>
          </p:cNvPr>
          <p:cNvSpPr>
            <a:spLocks noGrp="1"/>
          </p:cNvSpPr>
          <p:nvPr/>
        </p:nvSpPr>
        <p:spPr>
          <a:xfrm>
            <a:off x="3943350" y="32385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92033"/>
                </a:solidFill>
              </a:defRPr>
            </a:pPr>
            <a:r>
              <a:rPr sz="1575" b="1">
                <a:solidFill>
                  <a:srgbClr val="092033"/>
                </a:solidFill>
              </a:rPr>
              <a:t>M-Pesa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5568B6D-4D37-422D-854F-A0C76D8508B5}"/>
              </a:ext>
            </a:extLst>
          </p:cNvPr>
          <p:cNvSpPr>
            <a:spLocks noGrp="1"/>
          </p:cNvSpPr>
          <p:nvPr/>
        </p:nvSpPr>
        <p:spPr>
          <a:xfrm>
            <a:off x="6096000" y="2095500"/>
            <a:ext cx="1809750" cy="1714500"/>
          </a:xfrm>
          <a:prstGeom prst="roundRect">
            <a:avLst>
              <a:gd name="adj" fmla="val 8889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574735" y="2381250"/>
            <a:ext cx="852280" cy="590550"/>
          </a:xfrm>
          <a:prstGeom prst="roundRect">
            <a:avLst>
              <a:gd name="adj" fmla="val 12903"/>
            </a:avLst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DAE1883-39A9-45D3-B346-8D9DAAB96F70}"/>
              </a:ext>
            </a:extLst>
          </p:cNvPr>
          <p:cNvSpPr>
            <a:spLocks noGrp="1"/>
          </p:cNvSpPr>
          <p:nvPr/>
        </p:nvSpPr>
        <p:spPr>
          <a:xfrm>
            <a:off x="6324600" y="32385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92033"/>
                </a:solidFill>
              </a:defRPr>
            </a:pPr>
            <a:r>
              <a:rPr sz="1575" b="1">
                <a:solidFill>
                  <a:srgbClr val="092033"/>
                </a:solidFill>
              </a:rPr>
              <a:t>CBE Birr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9DD6B0-00FA-4551-B195-3B3D59756C9B}"/>
              </a:ext>
            </a:extLst>
          </p:cNvPr>
          <p:cNvSpPr>
            <a:spLocks noGrp="1"/>
          </p:cNvSpPr>
          <p:nvPr/>
        </p:nvSpPr>
        <p:spPr>
          <a:xfrm>
            <a:off x="8477250" y="2095500"/>
            <a:ext cx="1809750" cy="1714500"/>
          </a:xfrm>
          <a:prstGeom prst="roundRect">
            <a:avLst>
              <a:gd name="adj" fmla="val 8889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086850" y="2381250"/>
            <a:ext cx="590550" cy="590550"/>
          </a:xfrm>
          <a:prstGeom prst="roundRect">
            <a:avLst>
              <a:gd name="adj" fmla="val 12903"/>
            </a:avLst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4A74A6E-757F-4B11-9B64-4F6C6117D687}"/>
              </a:ext>
            </a:extLst>
          </p:cNvPr>
          <p:cNvSpPr>
            <a:spLocks noGrp="1"/>
          </p:cNvSpPr>
          <p:nvPr/>
        </p:nvSpPr>
        <p:spPr>
          <a:xfrm>
            <a:off x="8705850" y="32385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92033"/>
                </a:solidFill>
              </a:defRPr>
            </a:pPr>
            <a:r>
              <a:rPr sz="1575" b="1">
                <a:solidFill>
                  <a:srgbClr val="092033"/>
                </a:solidFill>
              </a:rPr>
              <a:t>Apollo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906321-46F6-4CEC-A115-C2B4B4FCB3A6}"/>
              </a:ext>
            </a:extLst>
          </p:cNvPr>
          <p:cNvSpPr>
            <a:spLocks noGrp="1"/>
          </p:cNvSpPr>
          <p:nvPr/>
        </p:nvSpPr>
        <p:spPr>
          <a:xfrm>
            <a:off x="1714500" y="4572000"/>
            <a:ext cx="876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08C4A"/>
                </a:solidFill>
              </a:defRPr>
            </a:pPr>
            <a:r>
              <a:rPr sz="1800" b="1">
                <a:solidFill>
                  <a:srgbClr val="008C4A"/>
                </a:solidFill>
              </a:rPr>
              <a:t>The current demo checkout can later hand off to real APIs without changing the business workflow.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F0D420-1848-42A0-8C6C-75B085044C8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3A5AC0-4719-42BC-9FF6-3B79974913B0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31625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D7D4B62-55B1-4D9D-97B1-B35D4AC56AF7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The database separates BizTrack business data from Laravel system support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74D750-2061-4E18-83F7-2545F5E195B4}"/>
              </a:ext>
            </a:extLst>
          </p:cNvPr>
          <p:cNvSpPr>
            <a:spLocks noGrp="1"/>
          </p:cNvSpPr>
          <p:nvPr/>
        </p:nvSpPr>
        <p:spPr>
          <a:xfrm>
            <a:off x="609600" y="1587295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This keeps domain logic readable while the framework tables handle sessions, jobs, cache, and authentication support.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8824D45-230A-4CC8-AEE1-10BFA6289F11}"/>
              </a:ext>
            </a:extLst>
          </p:cNvPr>
          <p:cNvSpPr>
            <a:spLocks noGrp="1"/>
          </p:cNvSpPr>
          <p:nvPr/>
        </p:nvSpPr>
        <p:spPr>
          <a:xfrm>
            <a:off x="1047750" y="2000250"/>
            <a:ext cx="3238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008C4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F90E61-C05B-4292-9DC0-6FCD142213F6}"/>
              </a:ext>
            </a:extLst>
          </p:cNvPr>
          <p:cNvSpPr>
            <a:spLocks noGrp="1"/>
          </p:cNvSpPr>
          <p:nvPr/>
        </p:nvSpPr>
        <p:spPr>
          <a:xfrm>
            <a:off x="1257300" y="2228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8C4A"/>
                </a:solidFill>
              </a:defRPr>
            </a:pPr>
            <a:r>
              <a:rPr sz="2100" b="1">
                <a:solidFill>
                  <a:srgbClr val="008C4A"/>
                </a:solidFill>
              </a:rPr>
              <a:t>27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D5DB6C-0042-4FB9-98B5-9BECB2677961}"/>
              </a:ext>
            </a:extLst>
          </p:cNvPr>
          <p:cNvSpPr>
            <a:spLocks noGrp="1"/>
          </p:cNvSpPr>
          <p:nvPr/>
        </p:nvSpPr>
        <p:spPr>
          <a:xfrm>
            <a:off x="1257300" y="2638425"/>
            <a:ext cx="281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BizTrack domain tables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C0BA8DD-52B6-4992-83CF-7D4B48C0F894}"/>
              </a:ext>
            </a:extLst>
          </p:cNvPr>
          <p:cNvSpPr>
            <a:spLocks noGrp="1"/>
          </p:cNvSpPr>
          <p:nvPr/>
        </p:nvSpPr>
        <p:spPr>
          <a:xfrm>
            <a:off x="4476750" y="2000250"/>
            <a:ext cx="3238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075985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B389D9-2F6F-48D1-804A-042EF1FB8878}"/>
              </a:ext>
            </a:extLst>
          </p:cNvPr>
          <p:cNvSpPr>
            <a:spLocks noGrp="1"/>
          </p:cNvSpPr>
          <p:nvPr/>
        </p:nvSpPr>
        <p:spPr>
          <a:xfrm>
            <a:off x="4686300" y="2228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75985"/>
                </a:solidFill>
              </a:defRPr>
            </a:pPr>
            <a:r>
              <a:rPr sz="2100" b="1">
                <a:solidFill>
                  <a:srgbClr val="075985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8455D8-B5A2-407D-8B32-960C3525659D}"/>
              </a:ext>
            </a:extLst>
          </p:cNvPr>
          <p:cNvSpPr>
            <a:spLocks noGrp="1"/>
          </p:cNvSpPr>
          <p:nvPr/>
        </p:nvSpPr>
        <p:spPr>
          <a:xfrm>
            <a:off x="4686300" y="2638425"/>
            <a:ext cx="281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Laravel/system tables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F13D8BA-E4BF-4CE7-B216-FDE40D82EAA8}"/>
              </a:ext>
            </a:extLst>
          </p:cNvPr>
          <p:cNvSpPr>
            <a:spLocks noGrp="1"/>
          </p:cNvSpPr>
          <p:nvPr/>
        </p:nvSpPr>
        <p:spPr>
          <a:xfrm>
            <a:off x="7905750" y="2000250"/>
            <a:ext cx="3238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B4235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D1C086-92C4-4BD6-B861-E0B5CD135C0E}"/>
              </a:ext>
            </a:extLst>
          </p:cNvPr>
          <p:cNvSpPr>
            <a:spLocks noGrp="1"/>
          </p:cNvSpPr>
          <p:nvPr/>
        </p:nvSpPr>
        <p:spPr>
          <a:xfrm>
            <a:off x="8115300" y="2228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4235A"/>
                </a:solidFill>
              </a:defRPr>
            </a:pPr>
            <a:r>
              <a:rPr sz="2100" b="1">
                <a:solidFill>
                  <a:srgbClr val="B4235A"/>
                </a:solidFill>
              </a:rPr>
              <a:t>36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E4232E-FFF8-40C2-B5C1-64895C857F8C}"/>
              </a:ext>
            </a:extLst>
          </p:cNvPr>
          <p:cNvSpPr>
            <a:spLocks noGrp="1"/>
          </p:cNvSpPr>
          <p:nvPr/>
        </p:nvSpPr>
        <p:spPr>
          <a:xfrm>
            <a:off x="8115300" y="2638425"/>
            <a:ext cx="281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Total current tables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98465AA-980C-4C1D-8445-D611FB26CA25}"/>
              </a:ext>
            </a:extLst>
          </p:cNvPr>
          <p:cNvSpPr>
            <a:spLocks noGrp="1"/>
          </p:cNvSpPr>
          <p:nvPr/>
        </p:nvSpPr>
        <p:spPr>
          <a:xfrm>
            <a:off x="1047750" y="3714750"/>
            <a:ext cx="4762500" cy="1428750"/>
          </a:xfrm>
          <a:prstGeom prst="roundRect">
            <a:avLst>
              <a:gd name="adj" fmla="val 10667"/>
            </a:avLst>
          </a:prstGeom>
          <a:solidFill>
            <a:srgbClr val="EAF8E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E1AD55-6197-498B-9344-01DF16CFF21D}"/>
              </a:ext>
            </a:extLst>
          </p:cNvPr>
          <p:cNvSpPr>
            <a:spLocks noGrp="1"/>
          </p:cNvSpPr>
          <p:nvPr/>
        </p:nvSpPr>
        <p:spPr>
          <a:xfrm>
            <a:off x="1333500" y="40005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8C4A"/>
                </a:solidFill>
              </a:defRPr>
            </a:pPr>
            <a:r>
              <a:rPr sz="1800" b="1">
                <a:solidFill>
                  <a:srgbClr val="008C4A"/>
                </a:solidFill>
              </a:rPr>
              <a:t>BizTrack tables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8C8EB8-6DB8-40E8-836B-6F32F158F5CE}"/>
              </a:ext>
            </a:extLst>
          </p:cNvPr>
          <p:cNvSpPr>
            <a:spLocks noGrp="1"/>
          </p:cNvSpPr>
          <p:nvPr/>
        </p:nvSpPr>
        <p:spPr>
          <a:xfrm>
            <a:off x="1333500" y="44386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92033"/>
                </a:solidFill>
              </a:defRPr>
            </a:pPr>
            <a:r>
              <a:rPr sz="1200" b="0">
                <a:solidFill>
                  <a:srgbClr val="092033"/>
                </a:solidFill>
              </a:rPr>
              <a:t>Businesses, products, inventory, sales, payments, customers, credits, reports, notifications, audit logs, subscriptions, employees, and transactions.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CEE8FA-E134-4DBF-B424-11239DEA825C}"/>
              </a:ext>
            </a:extLst>
          </p:cNvPr>
          <p:cNvSpPr>
            <a:spLocks noGrp="1"/>
          </p:cNvSpPr>
          <p:nvPr/>
        </p:nvSpPr>
        <p:spPr>
          <a:xfrm>
            <a:off x="6381750" y="3714750"/>
            <a:ext cx="4762500" cy="1428750"/>
          </a:xfrm>
          <a:prstGeom prst="roundRect">
            <a:avLst>
              <a:gd name="adj" fmla="val 10667"/>
            </a:avLst>
          </a:prstGeom>
          <a:solidFill>
            <a:srgbClr val="E8F4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F7D5D-5EA1-4E36-AE0A-9EA7E2955AA3}"/>
              </a:ext>
            </a:extLst>
          </p:cNvPr>
          <p:cNvSpPr>
            <a:spLocks noGrp="1"/>
          </p:cNvSpPr>
          <p:nvPr/>
        </p:nvSpPr>
        <p:spPr>
          <a:xfrm>
            <a:off x="6667500" y="40005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75985"/>
                </a:solidFill>
              </a:defRPr>
            </a:pPr>
            <a:r>
              <a:rPr sz="1800" b="1">
                <a:solidFill>
                  <a:srgbClr val="075985"/>
                </a:solidFill>
              </a:rPr>
              <a:t>Laravel/system tables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2D455B-B9AA-487B-ACDA-1CB1D4C59886}"/>
              </a:ext>
            </a:extLst>
          </p:cNvPr>
          <p:cNvSpPr>
            <a:spLocks noGrp="1"/>
          </p:cNvSpPr>
          <p:nvPr/>
        </p:nvSpPr>
        <p:spPr>
          <a:xfrm>
            <a:off x="6667500" y="44386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92033"/>
                </a:solidFill>
              </a:defRPr>
            </a:pPr>
            <a:r>
              <a:rPr sz="1200" b="0">
                <a:solidFill>
                  <a:srgbClr val="092033"/>
                </a:solidFill>
              </a:rPr>
              <a:t>Cache, sessions, jobs, failed jobs, migrations, password reset tokens, passkeys, and framework support records.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F6E4C9-F136-4C64-9EFD-F5D5A8E0F1E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CF5184-D031-4CBF-B167-C34E4B3FA58C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65160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FBDD79-E6F1-4D8D-AEC0-203AB6A9C2E3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Security is built into identity, access, and traceability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E20BF5-4039-425E-BE99-267A7D10CB80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BizTrack protects the platform through verification, strong passwords, role boundaries, and audit records.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C58A6B-9CEA-46AD-BC55-172F5B89E4AA}"/>
              </a:ext>
            </a:extLst>
          </p:cNvPr>
          <p:cNvSpPr>
            <a:spLocks noGrp="1"/>
          </p:cNvSpPr>
          <p:nvPr/>
        </p:nvSpPr>
        <p:spPr>
          <a:xfrm>
            <a:off x="1143000" y="1809750"/>
            <a:ext cx="7239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Email verification happens during sign-up before onboarding continues.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Phone OTP supports trial activation and account trust.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Temporary employee passwords must be reset.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Employee permissions are scoped to the owner’s business.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Super admin cannot silently change owner plans from the business directory.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Audit logs answer who did what, where, when, and what changed.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29F89AB-BC01-4592-8022-53BEC3CB6733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000250" cy="2190750"/>
          </a:xfrm>
          <a:prstGeom prst="roundRect">
            <a:avLst>
              <a:gd name="adj" fmla="val 7619"/>
            </a:avLst>
          </a:prstGeom>
          <a:solidFill>
            <a:srgbClr val="0B2B1D"/>
          </a:solidFill>
          <a:ln w="9525">
            <a:solidFill>
              <a:srgbClr val="0B2B1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129B0D-D499-43AF-B599-973185B4EAAD}"/>
              </a:ext>
            </a:extLst>
          </p:cNvPr>
          <p:cNvSpPr>
            <a:spLocks noGrp="1"/>
          </p:cNvSpPr>
          <p:nvPr/>
        </p:nvSpPr>
        <p:spPr>
          <a:xfrm>
            <a:off x="9163050" y="238125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Trust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0557B5-2B05-4E39-A26F-0FF1FA7B7E1A}"/>
              </a:ext>
            </a:extLst>
          </p:cNvPr>
          <p:cNvSpPr>
            <a:spLocks noGrp="1"/>
          </p:cNvSpPr>
          <p:nvPr/>
        </p:nvSpPr>
        <p:spPr>
          <a:xfrm>
            <a:off x="9163050" y="3009900"/>
            <a:ext cx="1428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DFF7E8"/>
                </a:solidFill>
              </a:defRPr>
            </a:pPr>
            <a:r>
              <a:rPr sz="1350" b="0">
                <a:solidFill>
                  <a:srgbClr val="DFF7E8"/>
                </a:solidFill>
              </a:rPr>
              <a:t>is not a feature; it is the behavior of the whole system.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EADB9E-514F-4EC3-AF5E-CC016BCAC1DF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5CE989-F139-4459-AAC9-45BE812A3E5F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55586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166D0-A4C1-498A-9D96-584A2D1A4706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BizTrack can feel like each business’s own workspace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5AD65C-AB38-429A-90DD-797BCAF11E9A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Tenant themes use business category, logo-driven palettes, and manual appearance settings.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t="21865" b="21865"/>
          <a:stretch>
            <a:fillRect/>
          </a:stretch>
        </p:blipFill>
        <p:spPr>
          <a:xfrm>
            <a:off x="6858000" y="1524000"/>
            <a:ext cx="3810000" cy="3810000"/>
          </a:xfrm>
          <a:prstGeom prst="roundRect">
            <a:avLst>
              <a:gd name="adj" fmla="val 4000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4165929-CB95-41F1-9D2E-652163D5DEF9}"/>
              </a:ext>
            </a:extLst>
          </p:cNvPr>
          <p:cNvSpPr>
            <a:spLocks noGrp="1"/>
          </p:cNvSpPr>
          <p:nvPr/>
        </p:nvSpPr>
        <p:spPr>
          <a:xfrm>
            <a:off x="857250" y="1828800"/>
            <a:ext cx="4953000" cy="3143250"/>
          </a:xfrm>
          <a:prstGeom prst="roundRect">
            <a:avLst>
              <a:gd name="adj" fmla="val 4848"/>
            </a:avLst>
          </a:prstGeom>
          <a:solidFill>
            <a:srgbClr val="FFFFFF">
              <a:alpha val="94118"/>
            </a:srgbClr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EAFBA1-9EE6-4450-AA88-0F8A0B453564}"/>
              </a:ext>
            </a:extLst>
          </p:cNvPr>
          <p:cNvSpPr>
            <a:spLocks noGrp="1"/>
          </p:cNvSpPr>
          <p:nvPr/>
        </p:nvSpPr>
        <p:spPr>
          <a:xfrm>
            <a:off x="1200150" y="2209800"/>
            <a:ext cx="4381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Business category is selected during onboarding.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Uploaded logos can influence brand palette.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Manual color pickers let owners adjust without knowing hex codes.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CSS variables allow the UI to change consistently.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Dashboard guidance can adapt to business type.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A15F30-020B-4B69-A76E-78BCF5A4F80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6D211E-84FB-436B-9535-82D463B895FB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7373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0CB9501-0B0F-4737-9D85-2AEB69ACF79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The business owner benefits from clarity, control, and faster decisions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E9A269-9B81-4E36-9AAC-7784D1074F23}"/>
              </a:ext>
            </a:extLst>
          </p:cNvPr>
          <p:cNvSpPr>
            <a:spLocks noGrp="1"/>
          </p:cNvSpPr>
          <p:nvPr/>
        </p:nvSpPr>
        <p:spPr>
          <a:xfrm>
            <a:off x="609600" y="1472381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 err="1">
                <a:solidFill>
                  <a:srgbClr val="53657A"/>
                </a:solidFill>
              </a:rPr>
              <a:t>BizTrack</a:t>
            </a:r>
            <a:r>
              <a:rPr sz="1350" b="0" dirty="0">
                <a:solidFill>
                  <a:srgbClr val="53657A"/>
                </a:solidFill>
              </a:rPr>
              <a:t> makes daily business management less dependent on memory, notebooks, and scattered conversations.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9EB9E00-0DC3-4D5F-8168-F093822FC4AF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4762500" cy="1200150"/>
          </a:xfrm>
          <a:prstGeom prst="roundRect">
            <a:avLst>
              <a:gd name="adj" fmla="val 12698"/>
            </a:avLst>
          </a:prstGeom>
          <a:solidFill>
            <a:srgbClr val="EAF8E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00F1D0-AEC1-47F9-B2DA-777DC3F09248}"/>
              </a:ext>
            </a:extLst>
          </p:cNvPr>
          <p:cNvSpPr>
            <a:spLocks noGrp="1"/>
          </p:cNvSpPr>
          <p:nvPr/>
        </p:nvSpPr>
        <p:spPr>
          <a:xfrm>
            <a:off x="857250" y="20764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8C4A"/>
                </a:solidFill>
              </a:defRPr>
            </a:pPr>
            <a:r>
              <a:rPr sz="2100" b="1">
                <a:solidFill>
                  <a:srgbClr val="008C4A"/>
                </a:solidFill>
              </a:rPr>
              <a:t>Clarity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AE180F-D663-4359-A297-09A42F0D3A05}"/>
              </a:ext>
            </a:extLst>
          </p:cNvPr>
          <p:cNvSpPr>
            <a:spLocks noGrp="1"/>
          </p:cNvSpPr>
          <p:nvPr/>
        </p:nvSpPr>
        <p:spPr>
          <a:xfrm>
            <a:off x="2609850" y="209550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One dashboard for sales, stock, payments, credit, and performance.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63EF01-6633-4EAE-A487-D358E0756646}"/>
              </a:ext>
            </a:extLst>
          </p:cNvPr>
          <p:cNvSpPr>
            <a:spLocks noGrp="1"/>
          </p:cNvSpPr>
          <p:nvPr/>
        </p:nvSpPr>
        <p:spPr>
          <a:xfrm>
            <a:off x="6038850" y="1809750"/>
            <a:ext cx="4762500" cy="1200150"/>
          </a:xfrm>
          <a:prstGeom prst="roundRect">
            <a:avLst>
              <a:gd name="adj" fmla="val 12698"/>
            </a:avLst>
          </a:prstGeom>
          <a:solidFill>
            <a:srgbClr val="E8F4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D6749B-267F-4C09-A7F5-D8CE3A62CBB2}"/>
              </a:ext>
            </a:extLst>
          </p:cNvPr>
          <p:cNvSpPr>
            <a:spLocks noGrp="1"/>
          </p:cNvSpPr>
          <p:nvPr/>
        </p:nvSpPr>
        <p:spPr>
          <a:xfrm>
            <a:off x="6286500" y="20764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75985"/>
                </a:solidFill>
              </a:defRPr>
            </a:pPr>
            <a:r>
              <a:rPr sz="2100" b="1">
                <a:solidFill>
                  <a:srgbClr val="075985"/>
                </a:solidFill>
              </a:rPr>
              <a:t>Control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22F891-6CC4-45F0-BAF1-748597B5E21E}"/>
              </a:ext>
            </a:extLst>
          </p:cNvPr>
          <p:cNvSpPr>
            <a:spLocks noGrp="1"/>
          </p:cNvSpPr>
          <p:nvPr/>
        </p:nvSpPr>
        <p:spPr>
          <a:xfrm>
            <a:off x="8039100" y="209550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Permissions, audit logs, and business-scoped data reduce risk.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564668D-D0EB-4D9A-A3D0-DF18B0E08BF3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4762500" cy="1200150"/>
          </a:xfrm>
          <a:prstGeom prst="roundRect">
            <a:avLst>
              <a:gd name="adj" fmla="val 12698"/>
            </a:avLst>
          </a:prstGeom>
          <a:solidFill>
            <a:srgbClr val="EAF8E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590C71-AF9B-4B88-BD12-45B83FCF0608}"/>
              </a:ext>
            </a:extLst>
          </p:cNvPr>
          <p:cNvSpPr>
            <a:spLocks noGrp="1"/>
          </p:cNvSpPr>
          <p:nvPr/>
        </p:nvSpPr>
        <p:spPr>
          <a:xfrm>
            <a:off x="857250" y="36957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8C4A"/>
                </a:solidFill>
              </a:defRPr>
            </a:pPr>
            <a:r>
              <a:rPr sz="2100" b="1">
                <a:solidFill>
                  <a:srgbClr val="008C4A"/>
                </a:solidFill>
              </a:rPr>
              <a:t>Speed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BA6A8E-6B09-44BD-839D-50266EDB0D17}"/>
              </a:ext>
            </a:extLst>
          </p:cNvPr>
          <p:cNvSpPr>
            <a:spLocks noGrp="1"/>
          </p:cNvSpPr>
          <p:nvPr/>
        </p:nvSpPr>
        <p:spPr>
          <a:xfrm>
            <a:off x="2609850" y="37147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POS, restock, receipts, and reports reduce repeated manual work.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D36071-9F05-4713-85FE-D2040DE7BCC6}"/>
              </a:ext>
            </a:extLst>
          </p:cNvPr>
          <p:cNvSpPr>
            <a:spLocks noGrp="1"/>
          </p:cNvSpPr>
          <p:nvPr/>
        </p:nvSpPr>
        <p:spPr>
          <a:xfrm>
            <a:off x="6038850" y="3429000"/>
            <a:ext cx="4762500" cy="1200150"/>
          </a:xfrm>
          <a:prstGeom prst="roundRect">
            <a:avLst>
              <a:gd name="adj" fmla="val 12698"/>
            </a:avLst>
          </a:prstGeom>
          <a:solidFill>
            <a:srgbClr val="E8F4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A7F24B-D4E1-4D01-8946-ED7619E6D2E5}"/>
              </a:ext>
            </a:extLst>
          </p:cNvPr>
          <p:cNvSpPr>
            <a:spLocks noGrp="1"/>
          </p:cNvSpPr>
          <p:nvPr/>
        </p:nvSpPr>
        <p:spPr>
          <a:xfrm>
            <a:off x="6286500" y="36957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75985"/>
                </a:solidFill>
              </a:defRPr>
            </a:pPr>
            <a:r>
              <a:rPr sz="2100" b="1">
                <a:solidFill>
                  <a:srgbClr val="075985"/>
                </a:solidFill>
              </a:rPr>
              <a:t>Confidence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E2BC81-EA3C-4D70-9B8F-2185E9A9E2AF}"/>
              </a:ext>
            </a:extLst>
          </p:cNvPr>
          <p:cNvSpPr>
            <a:spLocks noGrp="1"/>
          </p:cNvSpPr>
          <p:nvPr/>
        </p:nvSpPr>
        <p:spPr>
          <a:xfrm>
            <a:off x="8039100" y="37147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Analytics and notifications show what needs attention.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8A9153-10BB-408A-BAB1-044095FBF40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3A548B-64FD-4B1F-8A74-5D5054F249AD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1155757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049" y="514350"/>
            <a:ext cx="1029102" cy="685800"/>
          </a:xfrm>
          <a:prstGeom prst="roundRect">
            <a:avLst>
              <a:gd name="adj" fmla="val 11111"/>
            </a:avLst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E5B1F08-A7AC-4C78-808A-4B9C792E884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Recommended next steps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EF8A7A-7A8F-40E5-AC88-34926189081A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7810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DFF7E8"/>
                </a:solidFill>
              </a:defRPr>
            </a:pPr>
            <a:r>
              <a:rPr sz="1650" b="0">
                <a:solidFill>
                  <a:srgbClr val="DFF7E8"/>
                </a:solidFill>
              </a:rPr>
              <a:t>BizTrack already has a strong operating foundation. The next focus should be production readiness, payment gateway integration, stronger demos, and deployment discipline.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0D3470-89AC-4605-8DA3-B6656B2071B7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287000" cy="1352550"/>
          </a:xfrm>
          <a:prstGeom prst="roundRect">
            <a:avLst>
              <a:gd name="adj" fmla="val 11268"/>
            </a:avLst>
          </a:prstGeom>
          <a:solidFill>
            <a:srgbClr val="FFFFFF">
              <a:alpha val="7059"/>
            </a:srgbClr>
          </a:solidFill>
          <a:ln w="9525">
            <a:solidFill>
              <a:srgbClr val="FFFFFF">
                <a:alpha val="20784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B074A9-908A-46FA-8124-305B25073605}"/>
              </a:ext>
            </a:extLst>
          </p:cNvPr>
          <p:cNvSpPr>
            <a:spLocks noGrp="1"/>
          </p:cNvSpPr>
          <p:nvPr/>
        </p:nvSpPr>
        <p:spPr>
          <a:xfrm>
            <a:off x="952500" y="3943350"/>
            <a:ext cx="9334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Connect real gateway APIs after demo checkout flows are approved.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Prepare clean seeded demo businesses for presentations.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Run full Herd PHP test suite before every shared push.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Finalize deployment environment, mail domain, storage, and backups.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5205C2-E0AB-4FC5-9147-37D848AFAEEE}"/>
              </a:ext>
            </a:extLst>
          </p:cNvPr>
          <p:cNvSpPr>
            <a:spLocks noGrp="1"/>
          </p:cNvSpPr>
          <p:nvPr/>
        </p:nvSpPr>
        <p:spPr>
          <a:xfrm>
            <a:off x="609600" y="5695950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5B942"/>
                </a:solidFill>
              </a:defRPr>
            </a:pPr>
            <a:r>
              <a:rPr sz="1800" b="1">
                <a:solidFill>
                  <a:srgbClr val="F5B942"/>
                </a:solidFill>
              </a:rPr>
              <a:t>BizTrack: one business workspace, many daily decisions made easier.</a:t>
            </a:r>
          </a:p>
        </p:txBody>
      </p:sp>
    </p:spTree>
    <p:extLst>
      <p:ext uri="{BB962C8B-B14F-4D97-AF65-F5344CB8AC3E}">
        <p14:creationId xmlns:p14="http://schemas.microsoft.com/office/powerpoint/2010/main" val="19787676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2781</Words>
  <Application>Microsoft Office PowerPoint</Application>
  <DocSecurity>0</DocSecurity>
  <PresentationFormat>Widescreen</PresentationFormat>
  <Paragraphs>348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Obsa Yohannes</cp:lastModifiedBy>
  <cp:revision>2</cp:revision>
  <dcterms:created xsi:type="dcterms:W3CDTF">2026-08-21T06:53:10Z</dcterms:created>
  <dcterms:modified xsi:type="dcterms:W3CDTF">2026-08-21T07:12:53Z</dcterms:modified>
</cp:coreProperties>
</file>